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352"/>
    <p:restoredTop sz="94613"/>
  </p:normalViewPr>
  <p:slideViewPr>
    <p:cSldViewPr snapToGrid="0" snapToObjects="1">
      <p:cViewPr varScale="1">
        <p:scale>
          <a:sx n="85" d="100"/>
          <a:sy n="85" d="100"/>
        </p:scale>
        <p:origin x="208" y="6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32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 i="0">
                <a:solidFill>
                  <a:srgbClr val="1A1A1A"/>
                </a:solidFill>
                <a:latin typeface="Calibri"/>
              </a:rPr>
              <a:t>Bahçeşehir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07008"/>
            <a:ext cx="10332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Calibri"/>
              </a:rPr>
              <a:t>Faculty of Engineering &amp; Natural Sciences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99616"/>
            <a:ext cx="10332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Calibri"/>
              </a:rPr>
              <a:t>Department of Artificial Intelligence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23744"/>
            <a:ext cx="1033272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3200" b="1" i="0">
                <a:solidFill>
                  <a:srgbClr val="0B2A4A"/>
                </a:solidFill>
                <a:latin typeface="Calibri"/>
              </a:rPr>
              <a:t>Development and Evaluation of an MLflow-based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26664"/>
            <a:ext cx="1033272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3200" b="1" i="0">
                <a:solidFill>
                  <a:srgbClr val="0B2A4A"/>
                </a:solidFill>
                <a:latin typeface="Calibri"/>
              </a:rPr>
              <a:t>ML Lifecycle Management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66744"/>
            <a:ext cx="103327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800" b="0" i="1">
                <a:solidFill>
                  <a:srgbClr val="1A1A1A"/>
                </a:solidFill>
                <a:latin typeface="Calibri"/>
              </a:rPr>
              <a:t>Telco Customer Churn Prediction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495647" y="4114800"/>
            <a:ext cx="3200400" cy="25400"/>
          </a:xfrm>
          <a:prstGeom prst="rect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4581144"/>
            <a:ext cx="5943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1" i="0">
                <a:solidFill>
                  <a:srgbClr val="1A1A1A"/>
                </a:solidFill>
                <a:latin typeface="Calibri"/>
              </a:rPr>
              <a:t>Course: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581144"/>
            <a:ext cx="5486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AIN-3009 — MLOps (Term Project)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855464"/>
            <a:ext cx="5943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1" i="0">
                <a:solidFill>
                  <a:srgbClr val="1A1A1A"/>
                </a:solidFill>
                <a:latin typeface="Calibri"/>
              </a:rPr>
              <a:t>Author: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4855464"/>
            <a:ext cx="5486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Mohamed Dribika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29784"/>
            <a:ext cx="5943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1" i="0">
                <a:solidFill>
                  <a:srgbClr val="1A1A1A"/>
                </a:solidFill>
                <a:latin typeface="Calibri"/>
              </a:rPr>
              <a:t>Student number: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5129784"/>
            <a:ext cx="5486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2280197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404104"/>
            <a:ext cx="5943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1" i="0">
                <a:solidFill>
                  <a:srgbClr val="1A1A1A"/>
                </a:solidFill>
                <a:latin typeface="Calibri"/>
              </a:rPr>
              <a:t>Academic year: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5404104"/>
            <a:ext cx="5486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2025–2026</a:t>
            </a:r>
          </a:p>
        </p:txBody>
      </p:sp>
      <p:sp>
        <p:nvSpPr>
          <p:cNvPr id="18" name="TitleAccentBar">
            <a:extLst>
              <a:ext uri="{FF2B5EF4-FFF2-40B4-BE49-F238E27FC236}">
                <a16:creationId xmlns:a16="http://schemas.microsoft.com/office/drawing/2014/main" id="{DCDBA2F6-6546-CC47-8A82-B7AAABFB1852}"/>
              </a:ext>
            </a:extLst>
          </p:cNvPr>
          <p:cNvSpPr/>
          <p:nvPr/>
        </p:nvSpPr>
        <p:spPr>
          <a:xfrm>
            <a:off x="457200" y="2527300"/>
            <a:ext cx="50800" cy="1651000"/>
          </a:xfrm>
          <a:prstGeom prst="rect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D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-25400000" y="411480"/>
            <a:ext cx="9144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1">
                <a:solidFill>
                  <a:srgbClr val="5A5A5A"/>
                </a:solidFill>
                <a:latin typeface="Calibri"/>
              </a:rPr>
              <a:t>§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4900" y="482600"/>
            <a:ext cx="104140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600" b="1" i="0">
                <a:solidFill>
                  <a:srgbClr val="0B2A4A"/>
                </a:solidFill>
                <a:latin typeface="Calibri"/>
              </a:rPr>
              <a:t>Problem &amp; Dataset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19200"/>
            <a:ext cx="11091672" cy="25400"/>
          </a:xfrm>
          <a:prstGeom prst="rect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5A5A5A"/>
                </a:solidFill>
                <a:latin typeface="Calibri"/>
              </a:rPr>
              <a:t>Predict customer churn for a telecommunications operator.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6766560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 b="0">
                <a:solidFill>
                  <a:srgbClr val="1A1A1A"/>
                </a:solidFill>
                <a:latin typeface="Calibri"/>
              </a:rPr>
              <a:t>Retention is far cheaper than acquisition — predict cancellation before the next billing cycle.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 b="0">
                <a:solidFill>
                  <a:srgbClr val="1A1A1A"/>
                </a:solidFill>
                <a:latin typeface="Calibri"/>
              </a:rPr>
              <a:t>Binary classification: Churn ∈ {0, 1}.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 b="0">
                <a:solidFill>
                  <a:srgbClr val="1A1A1A"/>
                </a:solidFill>
                <a:latin typeface="Calibri"/>
              </a:rPr>
              <a:t>Dataset: IBM Telco Customer Churn — 7,043 customers, 20 features (15 categorical, 4 numeric).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 b="0">
                <a:solidFill>
                  <a:srgbClr val="1A1A1A"/>
                </a:solidFill>
                <a:latin typeface="Calibri"/>
              </a:rPr>
              <a:t>Class prevalence: 26.5 % positive (mild imbalance).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 b="0">
                <a:solidFill>
                  <a:srgbClr val="1A1A1A"/>
                </a:solidFill>
                <a:latin typeface="Calibri"/>
              </a:rPr>
              <a:t>Stratified split: 70 % train · 10 % validation · 20 % test.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2011680"/>
            <a:ext cx="3931920" cy="3931920"/>
          </a:xfrm>
          <a:prstGeom prst="rect">
            <a:avLst/>
          </a:prstGeom>
          <a:solidFill>
            <a:srgbClr val="F2F5FA"/>
          </a:solidFill>
          <a:ln w="6350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63840" y="2148840"/>
            <a:ext cx="36576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0B2A4A"/>
                </a:solidFill>
                <a:latin typeface="Calibri"/>
              </a:rPr>
              <a:t>Dataset at a glance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2651760"/>
            <a:ext cx="2194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Customers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2651760"/>
            <a:ext cx="201168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1" i="0">
                <a:solidFill>
                  <a:srgbClr val="1A1A1A"/>
                </a:solidFill>
                <a:latin typeface="Calibri"/>
              </a:rPr>
              <a:t>7,043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2926080"/>
            <a:ext cx="3611880" cy="3810"/>
          </a:xfrm>
          <a:prstGeom prst="rect">
            <a:avLst/>
          </a:prstGeom>
          <a:solidFill>
            <a:srgbClr val="B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909560" y="3035808"/>
            <a:ext cx="2194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Features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3035808"/>
            <a:ext cx="201168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1" i="0">
                <a:solidFill>
                  <a:srgbClr val="1A1A1A"/>
                </a:solidFill>
                <a:latin typeface="Calibri"/>
              </a:rPr>
              <a:t>20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0" y="3310128"/>
            <a:ext cx="3611880" cy="3810"/>
          </a:xfrm>
          <a:prstGeom prst="rect">
            <a:avLst/>
          </a:prstGeom>
          <a:solidFill>
            <a:srgbClr val="B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909560" y="3419856"/>
            <a:ext cx="2194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Categorical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4040" y="3419856"/>
            <a:ext cx="201168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1" i="0">
                <a:solidFill>
                  <a:srgbClr val="1A1A1A"/>
                </a:solidFill>
                <a:latin typeface="Calibri"/>
              </a:rPr>
              <a:t>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63840" y="3694176"/>
            <a:ext cx="3611880" cy="3810"/>
          </a:xfrm>
          <a:prstGeom prst="rect">
            <a:avLst/>
          </a:prstGeom>
          <a:solidFill>
            <a:srgbClr val="B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909560" y="3803904"/>
            <a:ext cx="2194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Numeric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3803904"/>
            <a:ext cx="201168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1" i="0">
                <a:solidFill>
                  <a:srgbClr val="1A1A1A"/>
                </a:solidFill>
                <a:latin typeface="Calibri"/>
              </a:rP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63840" y="4078224"/>
            <a:ext cx="3611880" cy="3810"/>
          </a:xfrm>
          <a:prstGeom prst="rect">
            <a:avLst/>
          </a:prstGeom>
          <a:solidFill>
            <a:srgbClr val="B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909560" y="4187952"/>
            <a:ext cx="2194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Positive class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64040" y="4187952"/>
            <a:ext cx="201168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1" i="0">
                <a:solidFill>
                  <a:srgbClr val="1A1A1A"/>
                </a:solidFill>
                <a:latin typeface="Calibri"/>
              </a:rPr>
              <a:t>26.5 %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63840" y="4462272"/>
            <a:ext cx="3611880" cy="3810"/>
          </a:xfrm>
          <a:prstGeom prst="rect">
            <a:avLst/>
          </a:prstGeom>
          <a:solidFill>
            <a:srgbClr val="B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909560" y="4572000"/>
            <a:ext cx="2194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Train / Val / Test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64040" y="4572000"/>
            <a:ext cx="201168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1" i="0">
                <a:solidFill>
                  <a:srgbClr val="1A1A1A"/>
                </a:solidFill>
                <a:latin typeface="Calibri"/>
              </a:rPr>
              <a:t>4,929 / 705 / 1,409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0" y="4846320"/>
            <a:ext cx="3611880" cy="3810"/>
          </a:xfrm>
          <a:prstGeom prst="rect">
            <a:avLst/>
          </a:prstGeom>
          <a:solidFill>
            <a:srgbClr val="B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48640" y="6446520"/>
            <a:ext cx="11091672" cy="5080"/>
          </a:xfrm>
          <a:prstGeom prst="rect">
            <a:avLst/>
          </a:prstGeom>
          <a:solidFill>
            <a:srgbClr val="B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48640" y="6510528"/>
            <a:ext cx="6400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1">
                <a:solidFill>
                  <a:srgbClr val="5A5A5A"/>
                </a:solidFill>
                <a:latin typeface="Calibri"/>
              </a:rPr>
              <a:t>Slide 2 · Problem &amp; Dataset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6510528"/>
            <a:ext cx="5760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 i="1">
                <a:solidFill>
                  <a:srgbClr val="5A5A5A"/>
                </a:solidFill>
                <a:latin typeface="Calibri"/>
              </a:rPr>
              <a:t>Mohamed Dribika · 2280197 · AIN-3009</a:t>
            </a:r>
          </a:p>
        </p:txBody>
      </p:sp>
      <p:sp>
        <p:nvSpPr>
          <p:cNvPr id="31" name="SectionBadge">
            <a:extLst>
              <a:ext uri="{FF2B5EF4-FFF2-40B4-BE49-F238E27FC236}">
                <a16:creationId xmlns:a16="http://schemas.microsoft.com/office/drawing/2014/main" id="{8D7E6DE4-A085-F446-8E5D-B75519823474}"/>
              </a:ext>
            </a:extLst>
          </p:cNvPr>
          <p:cNvSpPr/>
          <p:nvPr/>
        </p:nvSpPr>
        <p:spPr>
          <a:xfrm>
            <a:off x="546100" y="406400"/>
            <a:ext cx="406400" cy="406400"/>
          </a:xfrm>
          <a:prstGeom prst="ellipse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Calibri"/>
                <a:cs typeface="Calibri"/>
              </a:rPr>
              <a:t>1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8C1E618-FA9C-C644-A50F-8ACC4CE24C4F}"/>
              </a:ext>
            </a:extLst>
          </p:cNvPr>
          <p:cNvSpPr/>
          <p:nvPr/>
        </p:nvSpPr>
        <p:spPr>
          <a:xfrm>
            <a:off x="7680959" y="2011680"/>
            <a:ext cx="50800" cy="3931920"/>
          </a:xfrm>
          <a:prstGeom prst="rect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D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-25400000" y="411480"/>
            <a:ext cx="9144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1">
                <a:solidFill>
                  <a:srgbClr val="5A5A5A"/>
                </a:solidFill>
                <a:latin typeface="Calibri"/>
              </a:rPr>
              <a:t>§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4900" y="482600"/>
            <a:ext cx="104140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600" b="1" i="0">
                <a:solidFill>
                  <a:srgbClr val="0B2A4A"/>
                </a:solidFill>
                <a:latin typeface="Calibri"/>
              </a:rPr>
              <a:t>System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19200"/>
            <a:ext cx="11091672" cy="25400"/>
          </a:xfrm>
          <a:prstGeom prst="rect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5A5A5A"/>
                </a:solidFill>
                <a:latin typeface="Calibri"/>
              </a:rPr>
              <a:t>Six MLflow-managed stages backed by a single tracking store.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03120"/>
            <a:ext cx="1711452" cy="1417320"/>
          </a:xfrm>
          <a:prstGeom prst="rect">
            <a:avLst/>
          </a:prstGeom>
          <a:solidFill>
            <a:srgbClr val="F2F5FA"/>
          </a:solidFill>
          <a:ln w="6350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2267712"/>
            <a:ext cx="1528572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i="0">
                <a:solidFill>
                  <a:srgbClr val="0B2A4A"/>
                </a:solidFill>
                <a:latin typeface="Consolas"/>
              </a:rPr>
              <a:t>data_loader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88920"/>
            <a:ext cx="1528572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1">
                <a:solidFill>
                  <a:srgbClr val="1A1A1A"/>
                </a:solidFill>
                <a:latin typeface="Calibri"/>
              </a:rPr>
              <a:t>load · clean · split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278380" y="2743200"/>
            <a:ext cx="128015" cy="164592"/>
          </a:xfrm>
          <a:prstGeom prst="rightArrow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424684" y="2103120"/>
            <a:ext cx="1711452" cy="1417320"/>
          </a:xfrm>
          <a:prstGeom prst="rect">
            <a:avLst/>
          </a:prstGeom>
          <a:solidFill>
            <a:srgbClr val="F2F5FA"/>
          </a:solidFill>
          <a:ln w="6350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516124" y="2267712"/>
            <a:ext cx="1528572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i="0">
                <a:solidFill>
                  <a:srgbClr val="0B2A4A"/>
                </a:solidFill>
                <a:latin typeface="Consolas"/>
              </a:rPr>
              <a:t>train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6124" y="2788920"/>
            <a:ext cx="1528572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1">
                <a:solidFill>
                  <a:srgbClr val="1A1A1A"/>
                </a:solidFill>
                <a:latin typeface="Calibri"/>
              </a:rPr>
              <a:t>three baselines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154423" y="2743200"/>
            <a:ext cx="128015" cy="164592"/>
          </a:xfrm>
          <a:prstGeom prst="rightArrow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00728" y="2103120"/>
            <a:ext cx="1711452" cy="1417320"/>
          </a:xfrm>
          <a:prstGeom prst="rect">
            <a:avLst/>
          </a:prstGeom>
          <a:solidFill>
            <a:srgbClr val="F2F5FA"/>
          </a:solidFill>
          <a:ln w="6350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92167" y="2267712"/>
            <a:ext cx="1528572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i="0">
                <a:solidFill>
                  <a:srgbClr val="0B2A4A"/>
                </a:solidFill>
                <a:latin typeface="Consolas"/>
              </a:rPr>
              <a:t>tune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92167" y="2788920"/>
            <a:ext cx="1528572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1">
                <a:solidFill>
                  <a:srgbClr val="1A1A1A"/>
                </a:solidFill>
                <a:latin typeface="Calibri"/>
              </a:rPr>
              <a:t>Hyperopt TPE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030468" y="2743200"/>
            <a:ext cx="128015" cy="164592"/>
          </a:xfrm>
          <a:prstGeom prst="rightArrow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76772" y="2103120"/>
            <a:ext cx="1711452" cy="1417320"/>
          </a:xfrm>
          <a:prstGeom prst="rect">
            <a:avLst/>
          </a:prstGeom>
          <a:solidFill>
            <a:srgbClr val="F2F5FA"/>
          </a:solidFill>
          <a:ln w="6350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268212" y="2267712"/>
            <a:ext cx="1528572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i="0">
                <a:solidFill>
                  <a:srgbClr val="0B2A4A"/>
                </a:solidFill>
                <a:latin typeface="Consolas"/>
              </a:rPr>
              <a:t>registry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8212" y="2788920"/>
            <a:ext cx="1528572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1">
                <a:solidFill>
                  <a:srgbClr val="1A1A1A"/>
                </a:solidFill>
                <a:latin typeface="Calibri"/>
              </a:rPr>
              <a:t>staging → production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906512" y="2743200"/>
            <a:ext cx="128015" cy="164592"/>
          </a:xfrm>
          <a:prstGeom prst="rightArrow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052816" y="2103120"/>
            <a:ext cx="1711452" cy="1417320"/>
          </a:xfrm>
          <a:prstGeom prst="rect">
            <a:avLst/>
          </a:prstGeom>
          <a:solidFill>
            <a:srgbClr val="F2F5FA"/>
          </a:solidFill>
          <a:ln w="6350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144256" y="2267712"/>
            <a:ext cx="1528572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i="0">
                <a:solidFill>
                  <a:srgbClr val="0B2A4A"/>
                </a:solidFill>
                <a:latin typeface="Consolas"/>
              </a:rPr>
              <a:t>serve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44256" y="2788920"/>
            <a:ext cx="1528572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1">
                <a:solidFill>
                  <a:srgbClr val="1A1A1A"/>
                </a:solidFill>
                <a:latin typeface="Calibri"/>
              </a:rPr>
              <a:t>mlflow models serve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782556" y="2743200"/>
            <a:ext cx="128015" cy="164592"/>
          </a:xfrm>
          <a:prstGeom prst="rightArrow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928860" y="2103120"/>
            <a:ext cx="1711452" cy="1417320"/>
          </a:xfrm>
          <a:prstGeom prst="rect">
            <a:avLst/>
          </a:prstGeom>
          <a:solidFill>
            <a:srgbClr val="F2F5FA"/>
          </a:solidFill>
          <a:ln w="6350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020299" y="2267712"/>
            <a:ext cx="1528572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i="0">
                <a:solidFill>
                  <a:srgbClr val="0B2A4A"/>
                </a:solidFill>
                <a:latin typeface="Consolas"/>
              </a:rPr>
              <a:t>monitor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20299" y="2788920"/>
            <a:ext cx="1528572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1">
                <a:solidFill>
                  <a:srgbClr val="1A1A1A"/>
                </a:solidFill>
                <a:latin typeface="Calibri"/>
              </a:rPr>
              <a:t>PSI · KS · drift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023360"/>
            <a:ext cx="11091672" cy="128016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48640" y="4133087"/>
            <a:ext cx="11091672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MLflow Tracking Server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480560"/>
            <a:ext cx="11091672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0" i="1">
                <a:solidFill>
                  <a:srgbClr val="FFFFFF"/>
                </a:solidFill>
                <a:latin typeface="Calibri"/>
              </a:rPr>
              <a:t>SQLite backend store · local filesystem artifact root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800600"/>
            <a:ext cx="11091672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Experiments: telco_churn (training + tuning), telco_churn_monitoring · Registered model: telco-churn-classifier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6446520"/>
            <a:ext cx="11091672" cy="5080"/>
          </a:xfrm>
          <a:prstGeom prst="rect">
            <a:avLst/>
          </a:prstGeom>
          <a:solidFill>
            <a:srgbClr val="B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48640" y="6510528"/>
            <a:ext cx="6400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1">
                <a:solidFill>
                  <a:srgbClr val="5A5A5A"/>
                </a:solidFill>
                <a:latin typeface="Calibri"/>
              </a:rPr>
              <a:t>Slide 3 · System overview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0" y="6510528"/>
            <a:ext cx="5760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 i="1">
                <a:solidFill>
                  <a:srgbClr val="5A5A5A"/>
                </a:solidFill>
                <a:latin typeface="Calibri"/>
              </a:rPr>
              <a:t>Mohamed Dribika · 2280197 · AIN-3009</a:t>
            </a:r>
          </a:p>
        </p:txBody>
      </p:sp>
      <p:sp>
        <p:nvSpPr>
          <p:cNvPr id="37" name="SectionBadge">
            <a:extLst>
              <a:ext uri="{FF2B5EF4-FFF2-40B4-BE49-F238E27FC236}">
                <a16:creationId xmlns:a16="http://schemas.microsoft.com/office/drawing/2014/main" id="{6D2A9996-7C47-F64C-8ACA-32D22BDF055B}"/>
              </a:ext>
            </a:extLst>
          </p:cNvPr>
          <p:cNvSpPr/>
          <p:nvPr/>
        </p:nvSpPr>
        <p:spPr>
          <a:xfrm>
            <a:off x="546100" y="406400"/>
            <a:ext cx="406400" cy="406400"/>
          </a:xfrm>
          <a:prstGeom prst="ellipse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Calibri"/>
                <a:cs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D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-25400000" y="411480"/>
            <a:ext cx="9144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1">
                <a:solidFill>
                  <a:srgbClr val="5A5A5A"/>
                </a:solidFill>
                <a:latin typeface="Calibri"/>
              </a:rPr>
              <a:t>§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4900" y="482600"/>
            <a:ext cx="104140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600" b="1" i="0">
                <a:solidFill>
                  <a:srgbClr val="0B2A4A"/>
                </a:solidFill>
                <a:latin typeface="Calibri"/>
              </a:rPr>
              <a:t>Experiment Tracking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19200"/>
            <a:ext cx="11091672" cy="25400"/>
          </a:xfrm>
          <a:prstGeom prst="rect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5A5A5A"/>
                </a:solidFill>
                <a:latin typeface="Calibri"/>
              </a:rPr>
              <a:t>Three baseline classifiers, all parameters and metrics logged.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6217920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 b="0">
                <a:solidFill>
                  <a:srgbClr val="1A1A1A"/>
                </a:solidFill>
                <a:latin typeface="Calibri"/>
              </a:rPr>
              <a:t>Models: LogisticRegression, RandomForestClassifier, GradientBoostingClassifier.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 b="0">
                <a:solidFill>
                  <a:srgbClr val="1A1A1A"/>
                </a:solidFill>
                <a:latin typeface="Calibri"/>
              </a:rPr>
              <a:t>Each run logs parameters, train/val/test metrics, ROC curve, confusion matrix.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 b="0">
                <a:solidFill>
                  <a:srgbClr val="1A1A1A"/>
                </a:solidFill>
                <a:latin typeface="Calibri"/>
              </a:rPr>
              <a:t>Model artifact is the full sklearn Pipeline with inferred signature + input example.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 b="0">
                <a:solidFill>
                  <a:srgbClr val="1A1A1A"/>
                </a:solidFill>
                <a:latin typeface="Calibri"/>
              </a:rPr>
              <a:t>Demo: MLflow UI · open one baseline run, show metrics tab.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0880" y="2057400"/>
            <a:ext cx="4754880" cy="4114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78040" y="2103120"/>
            <a:ext cx="21031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2103120"/>
            <a:ext cx="128016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Test ROC-AUC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2103120"/>
            <a:ext cx="10058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Test F1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2587752"/>
            <a:ext cx="21031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LogisticRegression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2587752"/>
            <a:ext cx="128016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 i="0">
                <a:solidFill>
                  <a:srgbClr val="1A1A1A"/>
                </a:solidFill>
                <a:latin typeface="Calibri"/>
              </a:rPr>
              <a:t>0.8426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52760" y="2587752"/>
            <a:ext cx="10058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 i="0">
                <a:solidFill>
                  <a:srgbClr val="1A1A1A"/>
                </a:solidFill>
                <a:latin typeface="Calibri"/>
              </a:rPr>
              <a:t>0.605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0880" y="2971800"/>
            <a:ext cx="4754880" cy="3810"/>
          </a:xfrm>
          <a:prstGeom prst="rect">
            <a:avLst/>
          </a:prstGeom>
          <a:solidFill>
            <a:srgbClr val="B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178040" y="3090672"/>
            <a:ext cx="21031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GradientBoosting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3090672"/>
            <a:ext cx="128016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Calibri"/>
              </a:rPr>
              <a:t>0.8390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52760" y="3090672"/>
            <a:ext cx="10058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Calibri"/>
              </a:rPr>
              <a:t>0.571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0" y="3474720"/>
            <a:ext cx="4754880" cy="3810"/>
          </a:xfrm>
          <a:prstGeom prst="rect">
            <a:avLst/>
          </a:prstGeom>
          <a:solidFill>
            <a:srgbClr val="B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178040" y="3593591"/>
            <a:ext cx="21031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RandomForest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3593591"/>
            <a:ext cx="128016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Calibri"/>
              </a:rPr>
              <a:t>0.8223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52760" y="3593591"/>
            <a:ext cx="10058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Calibri"/>
              </a:rPr>
              <a:t>0.539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977639"/>
            <a:ext cx="4754880" cy="3810"/>
          </a:xfrm>
          <a:prstGeom prst="rect">
            <a:avLst/>
          </a:prstGeom>
          <a:solidFill>
            <a:srgbClr val="B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040880" y="4114800"/>
            <a:ext cx="4754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1">
                <a:solidFill>
                  <a:srgbClr val="5A5A5A"/>
                </a:solidFill>
                <a:latin typeface="Calibri"/>
              </a:rPr>
              <a:t>LogisticRegression is the strongest baseline out of the box.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6446520"/>
            <a:ext cx="11091672" cy="5080"/>
          </a:xfrm>
          <a:prstGeom prst="rect">
            <a:avLst/>
          </a:prstGeom>
          <a:solidFill>
            <a:srgbClr val="B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48640" y="6510528"/>
            <a:ext cx="6400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1">
                <a:solidFill>
                  <a:srgbClr val="5A5A5A"/>
                </a:solidFill>
                <a:latin typeface="Calibri"/>
              </a:rPr>
              <a:t>Slide 4 · Experiment tracking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0" y="6510528"/>
            <a:ext cx="5760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 i="1">
                <a:solidFill>
                  <a:srgbClr val="5A5A5A"/>
                </a:solidFill>
                <a:latin typeface="Calibri"/>
              </a:rPr>
              <a:t>Mohamed Dribika · 2280197 · AIN-3009</a:t>
            </a:r>
          </a:p>
        </p:txBody>
      </p:sp>
      <p:sp>
        <p:nvSpPr>
          <p:cNvPr id="28" name="SectionBadge">
            <a:extLst>
              <a:ext uri="{FF2B5EF4-FFF2-40B4-BE49-F238E27FC236}">
                <a16:creationId xmlns:a16="http://schemas.microsoft.com/office/drawing/2014/main" id="{B92C6032-F42B-C946-9F72-4386F79B1B8D}"/>
              </a:ext>
            </a:extLst>
          </p:cNvPr>
          <p:cNvSpPr/>
          <p:nvPr/>
        </p:nvSpPr>
        <p:spPr>
          <a:xfrm>
            <a:off x="546100" y="406400"/>
            <a:ext cx="406400" cy="406400"/>
          </a:xfrm>
          <a:prstGeom prst="ellipse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Calibri"/>
                <a:cs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D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-25400000" y="411480"/>
            <a:ext cx="9144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1">
                <a:solidFill>
                  <a:srgbClr val="5A5A5A"/>
                </a:solidFill>
                <a:latin typeface="Calibri"/>
              </a:rPr>
              <a:t>§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4900" y="482600"/>
            <a:ext cx="104140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600" b="1" i="0">
                <a:solidFill>
                  <a:srgbClr val="0B2A4A"/>
                </a:solidFill>
                <a:latin typeface="Calibri"/>
              </a:rPr>
              <a:t>Hyperparameter Tuning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19200"/>
            <a:ext cx="11091672" cy="25400"/>
          </a:xfrm>
          <a:prstGeom prst="rect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5A5A5A"/>
                </a:solidFill>
                <a:latin typeface="Calibri"/>
              </a:rPr>
              <a:t>Hyperopt TPE over Gradient Boosting · 20 trials · nested MLflow runs.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6858000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 b="0">
                <a:solidFill>
                  <a:srgbClr val="1A1A1A"/>
                </a:solidFill>
                <a:latin typeface="Calibri"/>
              </a:rPr>
              <a:t>Search space: n_estimators, learning_rate, max_depth, min_samples_leaf, min_samples_split, subsample.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 b="0">
                <a:solidFill>
                  <a:srgbClr val="1A1A1A"/>
                </a:solidFill>
                <a:latin typeface="Calibri"/>
              </a:rPr>
              <a:t>Parent run holds the full search; each trial is a nested child run with its own parameters and metrics.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 b="0">
                <a:solidFill>
                  <a:srgbClr val="1A1A1A"/>
                </a:solidFill>
                <a:latin typeface="Calibri"/>
              </a:rPr>
              <a:t>All 20 trials browsable as a sortable table in the MLflow UI.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 b="0">
                <a:solidFill>
                  <a:srgbClr val="1A1A1A"/>
                </a:solidFill>
                <a:latin typeface="Calibri"/>
              </a:rPr>
              <a:t>Tuned Gradient Boosting beats every baseline including LogReg.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2103120"/>
            <a:ext cx="3931920" cy="3474720"/>
          </a:xfrm>
          <a:prstGeom prst="rect">
            <a:avLst/>
          </a:prstGeom>
          <a:solidFill>
            <a:srgbClr val="F2F5FA"/>
          </a:solidFill>
          <a:ln w="6350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680960" y="2286000"/>
            <a:ext cx="39319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0" i="1">
                <a:solidFill>
                  <a:srgbClr val="5A5A5A"/>
                </a:solidFill>
                <a:latin typeface="Calibri"/>
              </a:rPr>
              <a:t>Best test ROC-AUC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2697479"/>
            <a:ext cx="393192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5800" b="1" i="0">
                <a:solidFill>
                  <a:srgbClr val="0B2A4A"/>
                </a:solidFill>
                <a:latin typeface="Calibri"/>
              </a:rPr>
              <a:t>0.8457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61120" y="3886200"/>
            <a:ext cx="1371600" cy="762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680960" y="4023360"/>
            <a:ext cx="39319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0" i="1">
                <a:solidFill>
                  <a:srgbClr val="1A1A1A"/>
                </a:solidFill>
                <a:latin typeface="Calibri"/>
              </a:rPr>
              <a:t>Tuned Gradient Boosting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4526279"/>
            <a:ext cx="356616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onsolas"/>
              </a:rPr>
              <a:t>learning_rate = 0.018     n_estimators = 225
max_depth     = 5         min_samples_leaf = 18
subsample     = 0.63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91672" cy="5080"/>
          </a:xfrm>
          <a:prstGeom prst="rect">
            <a:avLst/>
          </a:prstGeom>
          <a:solidFill>
            <a:srgbClr val="B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6400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1">
                <a:solidFill>
                  <a:srgbClr val="5A5A5A"/>
                </a:solidFill>
                <a:latin typeface="Calibri"/>
              </a:rPr>
              <a:t>Slide 5 · Hyperparameter tuning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6510528"/>
            <a:ext cx="5760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 i="1">
                <a:solidFill>
                  <a:srgbClr val="5A5A5A"/>
                </a:solidFill>
                <a:latin typeface="Calibri"/>
              </a:rPr>
              <a:t>Mohamed Dribika · 2280197 · AIN-3009</a:t>
            </a:r>
          </a:p>
        </p:txBody>
      </p:sp>
      <p:sp>
        <p:nvSpPr>
          <p:cNvPr id="17" name="SectionBadge">
            <a:extLst>
              <a:ext uri="{FF2B5EF4-FFF2-40B4-BE49-F238E27FC236}">
                <a16:creationId xmlns:a16="http://schemas.microsoft.com/office/drawing/2014/main" id="{E86F0FC2-3AA2-4E45-94C5-973B19B44739}"/>
              </a:ext>
            </a:extLst>
          </p:cNvPr>
          <p:cNvSpPr/>
          <p:nvPr/>
        </p:nvSpPr>
        <p:spPr>
          <a:xfrm>
            <a:off x="546100" y="406400"/>
            <a:ext cx="406400" cy="406400"/>
          </a:xfrm>
          <a:prstGeom prst="ellipse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Calibri"/>
                <a:cs typeface="Calibri"/>
              </a:rPr>
              <a:t>4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D58FA49-A7E2-AE4D-8F47-15992A2A59EC}"/>
              </a:ext>
            </a:extLst>
          </p:cNvPr>
          <p:cNvSpPr/>
          <p:nvPr/>
        </p:nvSpPr>
        <p:spPr>
          <a:xfrm>
            <a:off x="7680959" y="2103120"/>
            <a:ext cx="50800" cy="3474720"/>
          </a:xfrm>
          <a:prstGeom prst="rect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D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-25400000" y="411480"/>
            <a:ext cx="9144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1">
                <a:solidFill>
                  <a:srgbClr val="5A5A5A"/>
                </a:solidFill>
                <a:latin typeface="Calibri"/>
              </a:rPr>
              <a:t>§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4900" y="482600"/>
            <a:ext cx="104140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600" b="1" i="0">
                <a:solidFill>
                  <a:srgbClr val="0B2A4A"/>
                </a:solidFill>
                <a:latin typeface="Calibri"/>
              </a:rPr>
              <a:t>Model Registry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19200"/>
            <a:ext cx="11091672" cy="25400"/>
          </a:xfrm>
          <a:prstGeom prst="rect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5A5A5A"/>
                </a:solidFill>
                <a:latin typeface="Calibri"/>
              </a:rPr>
              <a:t>Best run promoted via MLflow aliases — staging → production.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007" y="2103120"/>
            <a:ext cx="3291840" cy="1691640"/>
          </a:xfrm>
          <a:prstGeom prst="rect">
            <a:avLst/>
          </a:prstGeom>
          <a:solidFill>
            <a:srgbClr val="F2F5FA"/>
          </a:solidFill>
          <a:ln w="6350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18007" y="2103120"/>
            <a:ext cx="3291840" cy="411480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00887" y="2139696"/>
            <a:ext cx="29260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nsolas"/>
              </a:rPr>
              <a:t>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0887" y="2697479"/>
            <a:ext cx="29260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 i="1">
                <a:solidFill>
                  <a:srgbClr val="1A1A1A"/>
                </a:solidFill>
                <a:latin typeface="Calibri"/>
              </a:rPr>
              <a:t>fresh model version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0887" y="3200400"/>
            <a:ext cx="29260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5A5A5A"/>
                </a:solidFill>
                <a:latin typeface="Calibri"/>
              </a:rPr>
              <a:t>model version 0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882999" y="2880360"/>
            <a:ext cx="493775" cy="201168"/>
          </a:xfrm>
          <a:prstGeom prst="rightArrow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449927" y="2103120"/>
            <a:ext cx="3291840" cy="1691640"/>
          </a:xfrm>
          <a:prstGeom prst="rect">
            <a:avLst/>
          </a:prstGeom>
          <a:solidFill>
            <a:srgbClr val="F2F5FA"/>
          </a:solidFill>
          <a:ln w="6350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449927" y="2103120"/>
            <a:ext cx="3291840" cy="411480"/>
          </a:xfrm>
          <a:prstGeom prst="rect">
            <a:avLst/>
          </a:prstGeom>
          <a:solidFill>
            <a:srgbClr val="294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32807" y="2139696"/>
            <a:ext cx="29260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nsolas"/>
              </a:rPr>
              <a:t>@staging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2807" y="2697479"/>
            <a:ext cx="29260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 i="1">
                <a:solidFill>
                  <a:srgbClr val="1A1A1A"/>
                </a:solidFill>
                <a:latin typeface="Calibri"/>
              </a:rPr>
              <a:t>candidate · QA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2807" y="3200400"/>
            <a:ext cx="29260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5A5A5A"/>
                </a:solidFill>
                <a:latin typeface="Calibri"/>
              </a:rPr>
              <a:t>alias set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814919" y="2880360"/>
            <a:ext cx="493775" cy="201168"/>
          </a:xfrm>
          <a:prstGeom prst="rightArrow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381847" y="2103120"/>
            <a:ext cx="3291840" cy="1691640"/>
          </a:xfrm>
          <a:prstGeom prst="rect">
            <a:avLst/>
          </a:prstGeom>
          <a:solidFill>
            <a:srgbClr val="F2F5FA"/>
          </a:solidFill>
          <a:ln w="6350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381847" y="2103120"/>
            <a:ext cx="3291840" cy="4114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564727" y="2139696"/>
            <a:ext cx="29260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nsolas"/>
              </a:rPr>
              <a:t>@production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64727" y="2697479"/>
            <a:ext cx="29260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 i="1">
                <a:solidFill>
                  <a:srgbClr val="1A1A1A"/>
                </a:solidFill>
                <a:latin typeface="Calibri"/>
              </a:rPr>
              <a:t>serves /invocations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64727" y="3200400"/>
            <a:ext cx="29260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5A5A5A"/>
                </a:solidFill>
                <a:latin typeface="Calibri"/>
              </a:rPr>
              <a:t>alias set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297680"/>
            <a:ext cx="11091672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Command-line interface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617720"/>
            <a:ext cx="11091672" cy="1554480"/>
          </a:xfrm>
          <a:prstGeom prst="rect">
            <a:avLst/>
          </a:prstGeom>
          <a:solidFill>
            <a:srgbClr val="F2F5FA"/>
          </a:solidFill>
          <a:ln w="6350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5800" y="4690872"/>
            <a:ext cx="10972800" cy="137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onsolas"/>
              </a:rPr>
              <a:t>python -m src.registry register-best
python -m src.registry transition 2 staging
python -m src.registry transition 2 production
python -m src.registry list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6446520"/>
            <a:ext cx="11091672" cy="5080"/>
          </a:xfrm>
          <a:prstGeom prst="rect">
            <a:avLst/>
          </a:prstGeom>
          <a:solidFill>
            <a:srgbClr val="B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48640" y="6510528"/>
            <a:ext cx="6400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1">
                <a:solidFill>
                  <a:srgbClr val="5A5A5A"/>
                </a:solidFill>
                <a:latin typeface="Calibri"/>
              </a:rPr>
              <a:t>Slide 6 · Model Registry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6510528"/>
            <a:ext cx="5760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 i="1">
                <a:solidFill>
                  <a:srgbClr val="5A5A5A"/>
                </a:solidFill>
                <a:latin typeface="Calibri"/>
              </a:rPr>
              <a:t>Mohamed Dribika · 2280197 · AIN-3009</a:t>
            </a:r>
          </a:p>
        </p:txBody>
      </p:sp>
      <p:sp>
        <p:nvSpPr>
          <p:cNvPr id="30" name="SectionBadge">
            <a:extLst>
              <a:ext uri="{FF2B5EF4-FFF2-40B4-BE49-F238E27FC236}">
                <a16:creationId xmlns:a16="http://schemas.microsoft.com/office/drawing/2014/main" id="{6CF1BF7E-0607-D240-95CD-327198C97CCA}"/>
              </a:ext>
            </a:extLst>
          </p:cNvPr>
          <p:cNvSpPr/>
          <p:nvPr/>
        </p:nvSpPr>
        <p:spPr>
          <a:xfrm>
            <a:off x="546100" y="406400"/>
            <a:ext cx="406400" cy="406400"/>
          </a:xfrm>
          <a:prstGeom prst="ellipse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Calibri"/>
                <a:cs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D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-25400000" y="411480"/>
            <a:ext cx="9144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1">
                <a:solidFill>
                  <a:srgbClr val="5A5A5A"/>
                </a:solidFill>
                <a:latin typeface="Calibri"/>
              </a:rPr>
              <a:t>§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4900" y="482600"/>
            <a:ext cx="104140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600" b="1" i="0">
                <a:solidFill>
                  <a:srgbClr val="0B2A4A"/>
                </a:solidFill>
                <a:latin typeface="Calibri"/>
              </a:rPr>
              <a:t>Deployment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19200"/>
            <a:ext cx="11091672" cy="25400"/>
          </a:xfrm>
          <a:prstGeom prst="rect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5A5A5A"/>
                </a:solidFill>
                <a:latin typeface="Calibri"/>
              </a:rPr>
              <a:t>MLflow's built-in scoring server — zero serving code.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5486400" cy="4206240"/>
          </a:xfrm>
          <a:prstGeom prst="rect">
            <a:avLst/>
          </a:prstGeom>
          <a:solidFill>
            <a:srgbClr val="F2F5FA"/>
          </a:solidFill>
          <a:ln w="6350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148840"/>
            <a:ext cx="5120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0B2A4A"/>
                </a:solidFill>
                <a:latin typeface="Calibri"/>
              </a:rPr>
              <a:t>Launch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514600"/>
            <a:ext cx="5120640" cy="1737360"/>
          </a:xfrm>
          <a:prstGeom prst="rect">
            <a:avLst/>
          </a:prstGeom>
          <a:solidFill>
            <a:srgbClr val="FFFFFF"/>
          </a:solidFill>
          <a:ln w="6350">
            <a:solidFill>
              <a:srgbClr val="B0B7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578608"/>
            <a:ext cx="4937760" cy="1600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Consolas"/>
              </a:rPr>
              <a:t>mlflow models serve \
  --model-uri \
    models:/telco-churn-classifier@production \
  --port 5001 \
  --no-conda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34840"/>
            <a:ext cx="5120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0B2A4A"/>
                </a:solidFill>
                <a:latin typeface="Calibri"/>
              </a:rPr>
              <a:t>Endpoints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5120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onsolas"/>
              </a:rPr>
              <a:t>GET   /ping            — health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166360"/>
            <a:ext cx="5120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onsolas"/>
              </a:rPr>
              <a:t>POST  /invocations     — dataframe_split payload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011680"/>
            <a:ext cx="5486400" cy="4206240"/>
          </a:xfrm>
          <a:prstGeom prst="rect">
            <a:avLst/>
          </a:prstGeom>
          <a:solidFill>
            <a:srgbClr val="F2F5FA"/>
          </a:solidFill>
          <a:ln w="6350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92240" y="2148840"/>
            <a:ext cx="5120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0B2A4A"/>
                </a:solidFill>
                <a:latin typeface="Calibri"/>
              </a:rPr>
              <a:t>Request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2514600"/>
            <a:ext cx="512064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B0B7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83680" y="2578608"/>
            <a:ext cx="4937760" cy="1325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Consolas"/>
              </a:rPr>
              <a:t>{ "dataframe_split": {
    "columns": [...19 features...],
    "data":    [[ "Female", 0, "Yes", ... ]]
} 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069080"/>
            <a:ext cx="5120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0B2A4A"/>
                </a:solidFill>
                <a:latin typeface="Calibri"/>
              </a:rPr>
              <a:t>Response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4434840"/>
            <a:ext cx="512064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B0B7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83680" y="4526280"/>
            <a:ext cx="493776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0B2A4A"/>
                </a:solidFill>
                <a:latin typeface="Consolas"/>
              </a:rPr>
              <a:t>{ "predictions": [0, 1, 0] 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5303520"/>
            <a:ext cx="5120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1">
                <a:solidFill>
                  <a:srgbClr val="5A5A5A"/>
                </a:solidFill>
                <a:latin typeface="Calibri"/>
              </a:rPr>
              <a:t>MLflow reconstructs the sklearn Pipeline from the registry artifact.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6446520"/>
            <a:ext cx="11091672" cy="5080"/>
          </a:xfrm>
          <a:prstGeom prst="rect">
            <a:avLst/>
          </a:prstGeom>
          <a:solidFill>
            <a:srgbClr val="B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8640" y="6510528"/>
            <a:ext cx="6400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1">
                <a:solidFill>
                  <a:srgbClr val="5A5A5A"/>
                </a:solidFill>
                <a:latin typeface="Calibri"/>
              </a:rPr>
              <a:t>Slide 7 · Deployment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6510528"/>
            <a:ext cx="5760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 i="1">
                <a:solidFill>
                  <a:srgbClr val="5A5A5A"/>
                </a:solidFill>
                <a:latin typeface="Calibri"/>
              </a:rPr>
              <a:t>Mohamed Dribika · 2280197 · AIN-3009</a:t>
            </a:r>
          </a:p>
        </p:txBody>
      </p:sp>
      <p:sp>
        <p:nvSpPr>
          <p:cNvPr id="25" name="SectionBadge">
            <a:extLst>
              <a:ext uri="{FF2B5EF4-FFF2-40B4-BE49-F238E27FC236}">
                <a16:creationId xmlns:a16="http://schemas.microsoft.com/office/drawing/2014/main" id="{F818ADC8-9307-0E4F-B7CE-14CC66CEE884}"/>
              </a:ext>
            </a:extLst>
          </p:cNvPr>
          <p:cNvSpPr/>
          <p:nvPr/>
        </p:nvSpPr>
        <p:spPr>
          <a:xfrm>
            <a:off x="546100" y="406400"/>
            <a:ext cx="406400" cy="406400"/>
          </a:xfrm>
          <a:prstGeom prst="ellipse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Calibri"/>
                <a:cs typeface="Calibri"/>
              </a:rPr>
              <a:t>6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6186DEA-3C48-2346-9D5F-3B5B37C9244A}"/>
              </a:ext>
            </a:extLst>
          </p:cNvPr>
          <p:cNvSpPr/>
          <p:nvPr/>
        </p:nvSpPr>
        <p:spPr>
          <a:xfrm>
            <a:off x="548640" y="2011680"/>
            <a:ext cx="50800" cy="4206240"/>
          </a:xfrm>
          <a:prstGeom prst="rect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F3DC548-4329-DB49-8693-4CD328CF0034}"/>
              </a:ext>
            </a:extLst>
          </p:cNvPr>
          <p:cNvSpPr/>
          <p:nvPr/>
        </p:nvSpPr>
        <p:spPr>
          <a:xfrm>
            <a:off x="6309360" y="2011680"/>
            <a:ext cx="50800" cy="4206240"/>
          </a:xfrm>
          <a:prstGeom prst="rect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D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-25400000" y="411480"/>
            <a:ext cx="9144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1">
                <a:solidFill>
                  <a:srgbClr val="5A5A5A"/>
                </a:solidFill>
                <a:latin typeface="Calibri"/>
              </a:rPr>
              <a:t>§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4900" y="482600"/>
            <a:ext cx="104140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600" b="1" i="0">
                <a:solidFill>
                  <a:srgbClr val="0B2A4A"/>
                </a:solidFill>
                <a:latin typeface="Calibri"/>
              </a:rPr>
              <a:t>Drift Monitoring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19200"/>
            <a:ext cx="11091672" cy="25400"/>
          </a:xfrm>
          <a:prstGeom prst="rect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5A5A5A"/>
                </a:solidFill>
                <a:latin typeface="Calibri"/>
              </a:rPr>
              <a:t>Three simulated production batches — logged as MLflow runs.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7132320" cy="5029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2103120"/>
            <a:ext cx="1920239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Scenario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2103120"/>
            <a:ext cx="128016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max PSI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2103120"/>
            <a:ext cx="128016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Alert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0" y="2103120"/>
            <a:ext cx="1920239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prod_roc_auc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514600"/>
            <a:ext cx="7132320" cy="59436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2679192"/>
            <a:ext cx="21031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onsolas"/>
              </a:rPr>
              <a:t>clean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2679192"/>
            <a:ext cx="128016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0.02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2679192"/>
            <a:ext cx="128016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 i="0">
                <a:solidFill>
                  <a:srgbClr val="5A5A5A"/>
                </a:solidFill>
                <a:latin typeface="Calibri"/>
              </a:rPr>
              <a:t>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0" y="2679192"/>
            <a:ext cx="18288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0.834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108960"/>
            <a:ext cx="7132320" cy="3810"/>
          </a:xfrm>
          <a:prstGeom prst="rect">
            <a:avLst/>
          </a:prstGeom>
          <a:solidFill>
            <a:srgbClr val="B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3273552"/>
            <a:ext cx="21031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onsolas"/>
              </a:rPr>
              <a:t>feature_drift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3273552"/>
            <a:ext cx="128016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B01B1B"/>
                </a:solidFill>
                <a:latin typeface="Calibri"/>
              </a:rPr>
              <a:t>1.49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3273552"/>
            <a:ext cx="128016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 i="0">
                <a:solidFill>
                  <a:srgbClr val="146C43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15000" y="3273552"/>
            <a:ext cx="18288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0.843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703320"/>
            <a:ext cx="7132320" cy="3810"/>
          </a:xfrm>
          <a:prstGeom prst="rect">
            <a:avLst/>
          </a:prstGeom>
          <a:solidFill>
            <a:srgbClr val="B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48640" y="3703320"/>
            <a:ext cx="7132320" cy="59436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85800" y="3867911"/>
            <a:ext cx="21031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onsolas"/>
              </a:rPr>
              <a:t>concept_drift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3867911"/>
            <a:ext cx="128016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0.02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51960" y="3867911"/>
            <a:ext cx="128016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 i="0">
                <a:solidFill>
                  <a:srgbClr val="5A5A5A"/>
                </a:solidFill>
                <a:latin typeface="Calibri"/>
              </a:rPr>
              <a:t>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15000" y="3867911"/>
            <a:ext cx="18288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B01B1B"/>
                </a:solidFill>
                <a:latin typeface="Calibri"/>
              </a:rPr>
              <a:t>0.654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297680"/>
            <a:ext cx="7132320" cy="3810"/>
          </a:xfrm>
          <a:prstGeom prst="rect">
            <a:avLst/>
          </a:prstGeom>
          <a:solidFill>
            <a:srgbClr val="B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863840" y="2011680"/>
            <a:ext cx="3840480" cy="32918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046720" y="2148840"/>
            <a:ext cx="356616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1">
                <a:solidFill>
                  <a:srgbClr val="FFFFFF"/>
                </a:solidFill>
                <a:latin typeface="Calibri"/>
              </a:rPr>
              <a:t>Key insight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2560320"/>
            <a:ext cx="356616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PSI fires correctly on feature drift.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3246120"/>
            <a:ext cx="356616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Performance stays stable under that drift — model generalises.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0" y="4114800"/>
            <a:ext cx="3566160" cy="11887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Concept drift is invisible to PSI — features unchanged, but performance collapses.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577840"/>
            <a:ext cx="11091672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 i="1">
                <a:solidFill>
                  <a:srgbClr val="0B2A4A"/>
                </a:solidFill>
                <a:latin typeface="Calibri"/>
              </a:rPr>
              <a:t>→ Production monitoring must combine input distribution checks with performance metrics on labelled samples.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6446520"/>
            <a:ext cx="11091672" cy="5080"/>
          </a:xfrm>
          <a:prstGeom prst="rect">
            <a:avLst/>
          </a:prstGeom>
          <a:solidFill>
            <a:srgbClr val="B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48640" y="6510528"/>
            <a:ext cx="6400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1">
                <a:solidFill>
                  <a:srgbClr val="5A5A5A"/>
                </a:solidFill>
                <a:latin typeface="Calibri"/>
              </a:rPr>
              <a:t>Slide 8 · Drift monitoring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0" y="6510528"/>
            <a:ext cx="5760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 i="1">
                <a:solidFill>
                  <a:srgbClr val="5A5A5A"/>
                </a:solidFill>
                <a:latin typeface="Calibri"/>
              </a:rPr>
              <a:t>Mohamed Dribika · 2280197 · AIN-3009</a:t>
            </a:r>
          </a:p>
        </p:txBody>
      </p:sp>
      <p:sp>
        <p:nvSpPr>
          <p:cNvPr id="38" name="SectionBadge">
            <a:extLst>
              <a:ext uri="{FF2B5EF4-FFF2-40B4-BE49-F238E27FC236}">
                <a16:creationId xmlns:a16="http://schemas.microsoft.com/office/drawing/2014/main" id="{2838D88F-6AE4-8D48-A285-6821A1763820}"/>
              </a:ext>
            </a:extLst>
          </p:cNvPr>
          <p:cNvSpPr/>
          <p:nvPr/>
        </p:nvSpPr>
        <p:spPr>
          <a:xfrm>
            <a:off x="546100" y="406400"/>
            <a:ext cx="406400" cy="406400"/>
          </a:xfrm>
          <a:prstGeom prst="ellipse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Calibri"/>
                <a:cs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D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1">
                <a:solidFill>
                  <a:srgbClr val="5A5A5A"/>
                </a:solidFill>
                <a:latin typeface="Calibri"/>
              </a:rPr>
              <a:t>§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600" b="1" i="0">
                <a:solidFill>
                  <a:srgbClr val="0B2A4A"/>
                </a:solidFill>
                <a:latin typeface="Calibri"/>
              </a:rPr>
              <a:t>What MLflow Gave Us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91672" cy="25400"/>
          </a:xfrm>
          <a:prstGeom prst="rect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5A5A5A"/>
                </a:solidFill>
                <a:latin typeface="Calibri"/>
              </a:rPr>
              <a:t>Four concrete wins observed during the project.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20240"/>
            <a:ext cx="11091672" cy="1051560"/>
          </a:xfrm>
          <a:prstGeom prst="rect">
            <a:avLst/>
          </a:prstGeom>
          <a:solidFill>
            <a:srgbClr val="F2F5FA"/>
          </a:solidFill>
          <a:ln w="6350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-12700000" y="2039112"/>
            <a:ext cx="4572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i="0">
                <a:solidFill>
                  <a:srgbClr val="0B2A4A"/>
                </a:solidFill>
                <a:latin typeface="Calibri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039112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i="0">
                <a:solidFill>
                  <a:srgbClr val="0B2A4A"/>
                </a:solidFill>
                <a:latin typeface="Calibri"/>
              </a:rPr>
              <a:t>Single source of truth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423160"/>
            <a:ext cx="987552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Every parameter, metric, and artifact lives in one searchable store. No ad-hoc spreadsheets or screenshots.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063240"/>
            <a:ext cx="11091672" cy="1051560"/>
          </a:xfrm>
          <a:prstGeom prst="rect">
            <a:avLst/>
          </a:prstGeom>
          <a:solidFill>
            <a:srgbClr val="F2F5FA"/>
          </a:solidFill>
          <a:ln w="6350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-12700000" y="3182112"/>
            <a:ext cx="4572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i="0">
                <a:solidFill>
                  <a:srgbClr val="0B2A4A"/>
                </a:solidFill>
                <a:latin typeface="Calibri"/>
              </a:rPr>
              <a:t>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182112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i="0">
                <a:solidFill>
                  <a:srgbClr val="0B2A4A"/>
                </a:solidFill>
                <a:latin typeface="Calibri"/>
              </a:rPr>
              <a:t>Registry decouples training from serving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566160"/>
            <a:ext cx="987552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Promoting a new model is a one-line alias change; the serving layer reads from @production and never imports model code.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206240"/>
            <a:ext cx="11091672" cy="1051560"/>
          </a:xfrm>
          <a:prstGeom prst="rect">
            <a:avLst/>
          </a:prstGeom>
          <a:solidFill>
            <a:srgbClr val="F2F5FA"/>
          </a:solidFill>
          <a:ln w="6350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-12700000" y="4325112"/>
            <a:ext cx="4572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i="0">
                <a:solidFill>
                  <a:srgbClr val="0B2A4A"/>
                </a:solidFill>
                <a:latin typeface="Calibri"/>
              </a:rPr>
              <a:t>3.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325112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i="0">
                <a:solidFill>
                  <a:srgbClr val="0B2A4A"/>
                </a:solidFill>
                <a:latin typeface="Calibri"/>
              </a:rPr>
              <a:t>Pipeline-as-artifact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709159"/>
            <a:ext cx="987552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The full sklearn Pipeline (preprocessor + estimator) is the model — this eliminates an entire class of training/serving skew bugs.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349240"/>
            <a:ext cx="11091672" cy="1051560"/>
          </a:xfrm>
          <a:prstGeom prst="rect">
            <a:avLst/>
          </a:prstGeom>
          <a:solidFill>
            <a:srgbClr val="F2F5FA"/>
          </a:solidFill>
          <a:ln w="6350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-12700000" y="5468112"/>
            <a:ext cx="4572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i="0">
                <a:solidFill>
                  <a:srgbClr val="0B2A4A"/>
                </a:solidFill>
                <a:latin typeface="Calibri"/>
              </a:rPr>
              <a:t>4.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5468112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i="0">
                <a:solidFill>
                  <a:srgbClr val="0B2A4A"/>
                </a:solidFill>
                <a:latin typeface="Calibri"/>
              </a:rPr>
              <a:t>One API for the full lifecycle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5852159"/>
            <a:ext cx="987552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train · tune · register · serve · monitor all use the same client. Small surface area to learn and operate.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6446520"/>
            <a:ext cx="11091672" cy="12700"/>
          </a:xfrm>
          <a:prstGeom prst="rect">
            <a:avLst/>
          </a:prstGeom>
          <a:solidFill>
            <a:srgbClr val="D9DEE6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48640" y="6510528"/>
            <a:ext cx="6400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1">
                <a:solidFill>
                  <a:srgbClr val="5A5A5A"/>
                </a:solidFill>
                <a:latin typeface="Calibri"/>
              </a:rPr>
              <a:t>Slide 9 · What MLflow gave 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6510528"/>
            <a:ext cx="5760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 i="1">
                <a:solidFill>
                  <a:srgbClr val="5A5A5A"/>
                </a:solidFill>
                <a:latin typeface="Calibri"/>
              </a:rPr>
              <a:t>Mohamed Dribika · 2280197 · AIN-3009</a:t>
            </a:r>
          </a:p>
        </p:txBody>
      </p:sp>
      <p:sp>
        <p:nvSpPr>
          <p:cNvPr id="26" name="AccentBar_1">
            <a:extLst>
              <a:ext uri="{FF2B5EF4-FFF2-40B4-BE49-F238E27FC236}">
                <a16:creationId xmlns:a16="http://schemas.microsoft.com/office/drawing/2014/main" id="{B7027D82-DB0C-8944-AD9B-F9F5A6333F52}"/>
              </a:ext>
            </a:extLst>
          </p:cNvPr>
          <p:cNvSpPr/>
          <p:nvPr/>
        </p:nvSpPr>
        <p:spPr>
          <a:xfrm>
            <a:off x="546100" y="1917700"/>
            <a:ext cx="50800" cy="1054100"/>
          </a:xfrm>
          <a:prstGeom prst="rect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Badge_1">
            <a:extLst>
              <a:ext uri="{FF2B5EF4-FFF2-40B4-BE49-F238E27FC236}">
                <a16:creationId xmlns:a16="http://schemas.microsoft.com/office/drawing/2014/main" id="{D464CBB3-4A60-BE4D-AEB8-E182E2552F63}"/>
              </a:ext>
            </a:extLst>
          </p:cNvPr>
          <p:cNvSpPr/>
          <p:nvPr/>
        </p:nvSpPr>
        <p:spPr>
          <a:xfrm>
            <a:off x="812800" y="2146300"/>
            <a:ext cx="355600" cy="355600"/>
          </a:xfrm>
          <a:prstGeom prst="ellipse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Calibri"/>
                <a:cs typeface="Calibri"/>
              </a:rPr>
              <a:t>1</a:t>
            </a:r>
          </a:p>
        </p:txBody>
      </p:sp>
      <p:sp>
        <p:nvSpPr>
          <p:cNvPr id="28" name="AccentBar_2">
            <a:extLst>
              <a:ext uri="{FF2B5EF4-FFF2-40B4-BE49-F238E27FC236}">
                <a16:creationId xmlns:a16="http://schemas.microsoft.com/office/drawing/2014/main" id="{58E602F1-2A56-E44D-A9FF-43FE6970CCE3}"/>
              </a:ext>
            </a:extLst>
          </p:cNvPr>
          <p:cNvSpPr/>
          <p:nvPr/>
        </p:nvSpPr>
        <p:spPr>
          <a:xfrm>
            <a:off x="546100" y="3060700"/>
            <a:ext cx="50800" cy="1054100"/>
          </a:xfrm>
          <a:prstGeom prst="rect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Badge_2">
            <a:extLst>
              <a:ext uri="{FF2B5EF4-FFF2-40B4-BE49-F238E27FC236}">
                <a16:creationId xmlns:a16="http://schemas.microsoft.com/office/drawing/2014/main" id="{09F5D072-2C42-094D-929F-540B7F9856AD}"/>
              </a:ext>
            </a:extLst>
          </p:cNvPr>
          <p:cNvSpPr/>
          <p:nvPr/>
        </p:nvSpPr>
        <p:spPr>
          <a:xfrm>
            <a:off x="812800" y="3289300"/>
            <a:ext cx="355600" cy="355600"/>
          </a:xfrm>
          <a:prstGeom prst="ellipse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Calibri"/>
                <a:cs typeface="Calibri"/>
              </a:rPr>
              <a:t>2</a:t>
            </a:r>
          </a:p>
        </p:txBody>
      </p:sp>
      <p:sp>
        <p:nvSpPr>
          <p:cNvPr id="30" name="AccentBar_3">
            <a:extLst>
              <a:ext uri="{FF2B5EF4-FFF2-40B4-BE49-F238E27FC236}">
                <a16:creationId xmlns:a16="http://schemas.microsoft.com/office/drawing/2014/main" id="{06CDEC7A-0FBF-404E-84B7-C1CB378121B1}"/>
              </a:ext>
            </a:extLst>
          </p:cNvPr>
          <p:cNvSpPr/>
          <p:nvPr/>
        </p:nvSpPr>
        <p:spPr>
          <a:xfrm>
            <a:off x="546100" y="4203700"/>
            <a:ext cx="50800" cy="1054100"/>
          </a:xfrm>
          <a:prstGeom prst="rect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Badge_3">
            <a:extLst>
              <a:ext uri="{FF2B5EF4-FFF2-40B4-BE49-F238E27FC236}">
                <a16:creationId xmlns:a16="http://schemas.microsoft.com/office/drawing/2014/main" id="{9AA891E9-1B56-8940-81EE-B557757A70C7}"/>
              </a:ext>
            </a:extLst>
          </p:cNvPr>
          <p:cNvSpPr/>
          <p:nvPr/>
        </p:nvSpPr>
        <p:spPr>
          <a:xfrm>
            <a:off x="812800" y="4432300"/>
            <a:ext cx="355600" cy="355600"/>
          </a:xfrm>
          <a:prstGeom prst="ellipse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Calibri"/>
                <a:cs typeface="Calibri"/>
              </a:rPr>
              <a:t>3</a:t>
            </a:r>
          </a:p>
        </p:txBody>
      </p:sp>
      <p:sp>
        <p:nvSpPr>
          <p:cNvPr id="32" name="AccentBar_4">
            <a:extLst>
              <a:ext uri="{FF2B5EF4-FFF2-40B4-BE49-F238E27FC236}">
                <a16:creationId xmlns:a16="http://schemas.microsoft.com/office/drawing/2014/main" id="{7661018E-AD6E-FC44-94C3-071E96E16C42}"/>
              </a:ext>
            </a:extLst>
          </p:cNvPr>
          <p:cNvSpPr/>
          <p:nvPr/>
        </p:nvSpPr>
        <p:spPr>
          <a:xfrm>
            <a:off x="546100" y="5346700"/>
            <a:ext cx="50800" cy="1054100"/>
          </a:xfrm>
          <a:prstGeom prst="rect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3" name="Badge_4">
            <a:extLst>
              <a:ext uri="{FF2B5EF4-FFF2-40B4-BE49-F238E27FC236}">
                <a16:creationId xmlns:a16="http://schemas.microsoft.com/office/drawing/2014/main" id="{489C88BB-8997-D844-B9E1-600136058E9B}"/>
              </a:ext>
            </a:extLst>
          </p:cNvPr>
          <p:cNvSpPr/>
          <p:nvPr/>
        </p:nvSpPr>
        <p:spPr>
          <a:xfrm>
            <a:off x="812800" y="5575300"/>
            <a:ext cx="355600" cy="355600"/>
          </a:xfrm>
          <a:prstGeom prst="ellipse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Calibri"/>
                <a:cs typeface="Calibri"/>
              </a:rPr>
              <a:t>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D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-25400000" y="411480"/>
            <a:ext cx="9144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1">
                <a:solidFill>
                  <a:srgbClr val="5A5A5A"/>
                </a:solidFill>
                <a:latin typeface="Calibri"/>
              </a:rPr>
              <a:t>§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4900" y="482600"/>
            <a:ext cx="104140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600" b="1" i="0">
                <a:solidFill>
                  <a:srgbClr val="0B2A4A"/>
                </a:solidFill>
                <a:latin typeface="Calibri"/>
              </a:rPr>
              <a:t>Limitations &amp; Future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19200"/>
            <a:ext cx="11091672" cy="25400"/>
          </a:xfrm>
          <a:prstGeom prst="rect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5A5A5A"/>
                </a:solidFill>
                <a:latin typeface="Calibri"/>
              </a:rPr>
              <a:t>Honest gaps &amp; natural next steps in a real deployment.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11091672" cy="3291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 b="0">
                <a:solidFill>
                  <a:srgbClr val="1A1A1A"/>
                </a:solidFill>
                <a:latin typeface="Calibri"/>
              </a:rPr>
              <a:t>Threshold not tuned — using 0.5; production needs a cost-aware threshold.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 b="0">
                <a:solidFill>
                  <a:srgbClr val="1A1A1A"/>
                </a:solidFill>
                <a:latin typeface="Calibri"/>
              </a:rPr>
              <a:t>No automatic rollback on drift alert — natural extension: gate the @production alias on a rolling performance window.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 b="0">
                <a:solidFill>
                  <a:srgbClr val="1A1A1A"/>
                </a:solidFill>
                <a:latin typeface="Calibri"/>
              </a:rPr>
              <a:t>Local SQLite backend store; multi-writer production would use Postgres and S3 / GCS object storage.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 b="0">
                <a:solidFill>
                  <a:srgbClr val="1A1A1A"/>
                </a:solidFill>
                <a:latin typeface="Calibri"/>
              </a:rPr>
              <a:t>Class imbalance only mild (~27 %), so no SMOTE / class weights — worth a sweep for the F1-vs-recall trade-off.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11091672" cy="8686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55778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400" b="1" i="1">
                <a:solidFill>
                  <a:srgbClr val="FFFFFF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10" name="SectionBadge">
            <a:extLst>
              <a:ext uri="{FF2B5EF4-FFF2-40B4-BE49-F238E27FC236}">
                <a16:creationId xmlns:a16="http://schemas.microsoft.com/office/drawing/2014/main" id="{CBF6661D-FD52-9E40-96C3-035105718A64}"/>
              </a:ext>
            </a:extLst>
          </p:cNvPr>
          <p:cNvSpPr/>
          <p:nvPr/>
        </p:nvSpPr>
        <p:spPr>
          <a:xfrm>
            <a:off x="546100" y="406400"/>
            <a:ext cx="406400" cy="406400"/>
          </a:xfrm>
          <a:prstGeom prst="ellipse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Calibri"/>
                <a:cs typeface="Calibri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78D5A65-573E-6E4E-862E-A6352D3D4D5C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69110908-2c94-47a2-810f-259f9862d67b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1058</Words>
  <Application>Microsoft Macintosh PowerPoint</Application>
  <PresentationFormat>Widescreen</PresentationFormat>
  <Paragraphs>186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bika dribika</cp:lastModifiedBy>
  <cp:revision>2</cp:revision>
  <dcterms:created xsi:type="dcterms:W3CDTF">2013-01-27T09:14:16Z</dcterms:created>
  <dcterms:modified xsi:type="dcterms:W3CDTF">2026-05-17T09:51:30Z</dcterms:modified>
  <cp:category/>
</cp:coreProperties>
</file>