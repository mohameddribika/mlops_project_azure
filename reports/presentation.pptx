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52"/>
    <p:restoredTop sz="94613"/>
  </p:normalViewPr>
  <p:slideViewPr>
    <p:cSldViewPr snapToGrid="0" snapToObjects="1">
      <p:cViewPr varScale="1">
        <p:scale>
          <a:sx n="85" d="100"/>
          <a:sy n="85" d="100"/>
        </p:scale>
        <p:origin x="208" y="6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I'm Mohamed, student number 2280197. My MLOps term project builds a complete machine-learning lifecycle for predicting telecom customer churn, using MLflow to manage every stage — experiments, training, tuning, deployment, registry, and drift monitoring. About thirty seconds on context, then we'll walk through each lifecycle stage with concrete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business problem: telecom churn is expensive, and retaining a customer costs far less than acquiring a new one. So we frame it as binary classification — will this customer cancel before the next billing cycle. Dataset is IBM's Telco Customer Churn — about 7,000 customers, 20 features, mostly categorical. Mild class imbalance at 26.5% positive, so we use stratified splits — 70% train, 10% validation, 20%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is six Python modules, each owning one lifecycle stage. data_loader produces the splits. train fits three baseline classifiers. tune runs a Hyperopt search over the strongest family. registry promotes the winner through staging and production aliases. monitor plays simulated drift batches against the production model. All of them log to a single MLflow tracking server backed by SQLite with a local filesystem artifact root — one source of truth for the entire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experiment tracking, three baselines — Logistic Regression, Random Forest, Gradient Boosting. Every MLflow run captures parameters, train/val/test metrics, ROC and confusion-matrix plots, and the model itself, packaged as the full sklearn Pipeline with an inferred signature. Notice that out-of-the-box, Logistic Regression wins at 0.8426 ROC-AUC — the signal here is predominantly linear and the dataset is small enough that the higher-capacity tree models actually overfit before they catch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Hyperopt with the Tree-structured Parzen Estimator — 20 trials over Gradient Boosting. The whole search is logged as one parent MLflow run; each trial is a nested child run, so the entire search history is browseable as a sortable table in the UI. The best configuration uses a low learning rate of 0.018 with strong regularization — min_samples_leaf of 18 and 63% subsampling. With that, the tuned Gradient Boosting reaches 0.8457 test ROC-AUC and finally beats every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Registry. register-best scans the experiment, picks the run with the highest test ROC-AUC across both baseline and tuned runs, and creates a new version of telco-churn-classifier. transition moves that version through @staging and @production using MLflow 3's named aliases. Crucial point: the serving layer reads from the @production alias, so promoting a new model is one alias change — no code redeploy, fully reversible, atomic.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uses MLflow's built-in scoring server. One command — mlflow models serve against models:/telco-churn-classifier@production — gives us /ping for health checks and /invocations for predictions. Because we logged the full Pipeline as the artifact, the scoring server reconstructs preprocessing and the estimator together — no manual feature engineering at inference time, which eliminates an entire class of training-serving skew bugs. We also containerised this image and made it one-command deployable to Azure Container Apps — see the project README and the azure folder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 monitoring is the most interesting result. We simulate three production batches against the @production model. Clean — no perturbation. Feature drift — bill amounts shifted up by 15 to 35 percent. Concept drift — features unchanged but 25% of labels flipped, like a new competitor shifting customer behavior. PSI catches the feature drift loudly at 1.49, well above the 0.25 alert threshold. But concept drift looks perfectly clean to PSI — features identical to training — and yet ROC-AUC collapses from 0.83 to 0.65. The takeaway: PSI alone is blind to concept drift. Production monitoring must combine input-distribution checks with performance metrics on labeled 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concrete wins from using MLflow. One: every experiment lives in one searchable store — no spreadsheets, no screenshots. Two: the registry decouples training from serving — promotion is an alias change, the serving layer never imports model code. Three: logging the full Pipeline as the artifact eliminates training-serving skew. Four: one API for the entire lifecycle — train, tune, register, serve, and monitor all use the same MLflow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 and natural next steps. The classification threshold is the default 0.5 — production should use a cost-aware threshold given the economics of save offers. There's no automatic rollback on a drift alert; a natural extension is gating the @production alias on a rolling performance window. The backend store is SQLite — for a real multi-writer setup we'd use Postgres plus S3 or Azure Blob for artifacts. And class imbalance is mild so we skipped SMOTE and class weights, but they're worth a sweep for the F1-vs-recall trade-off.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Calibri"/>
              </a:rPr>
              <a:t>Bahçeşehir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07008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Faculty of Engineering &amp; Natural Sciences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99616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Department of Artificial Intelligence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23744"/>
            <a:ext cx="103327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200" b="1" i="0">
                <a:solidFill>
                  <a:srgbClr val="0B2A4A"/>
                </a:solidFill>
                <a:latin typeface="Calibri"/>
              </a:rPr>
              <a:t>Development and Evaluation of an MLflow-based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26664"/>
            <a:ext cx="103327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200" b="1" i="0">
                <a:solidFill>
                  <a:srgbClr val="0B2A4A"/>
                </a:solidFill>
                <a:latin typeface="Calibri"/>
              </a:rPr>
              <a:t>ML Lifecycle Management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66744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0" i="1">
                <a:solidFill>
                  <a:srgbClr val="1A1A1A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5647" y="4114800"/>
            <a:ext cx="3200400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58114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Course: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8114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AIN-3009 — MLOps (Term Project)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5546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Author: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5546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Mohamed Dribika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978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Student number: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12978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2280197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04104"/>
            <a:ext cx="5943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Academic year: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404104"/>
            <a:ext cx="5486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2025–2026</a:t>
            </a:r>
          </a:p>
        </p:txBody>
      </p:sp>
      <p:sp>
        <p:nvSpPr>
          <p:cNvPr id="18" name="TitleAccentBar">
            <a:extLst>
              <a:ext uri="{FF2B5EF4-FFF2-40B4-BE49-F238E27FC236}">
                <a16:creationId xmlns:a16="http://schemas.microsoft.com/office/drawing/2014/main" id="{DCDBA2F6-6546-CC47-8A82-B7AAABFB1852}"/>
              </a:ext>
            </a:extLst>
          </p:cNvPr>
          <p:cNvSpPr/>
          <p:nvPr/>
        </p:nvSpPr>
        <p:spPr>
          <a:xfrm>
            <a:off x="457200" y="2527300"/>
            <a:ext cx="50800" cy="16510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Problem &amp;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Predict customer churn for a telecommunications operator.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76656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Retention is far cheaper than acquisition — predict cancellation before the next billing cycle.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Binary classification: Churn ∈ {0, 1}.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Dataset: IBM Telco Customer Churn — 7,043 customers, 20 features (15 categorical, 4 numeric).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Class prevalence: 26.5 % positive (mild imbalance).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Stratified split: 70 % train · 10 % validation · 20 %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011680"/>
            <a:ext cx="3931920" cy="39319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0" y="2148840"/>
            <a:ext cx="3657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Dataset at a glance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651760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7,043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26080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3035808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035808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3310128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3419856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Categorical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419856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694176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3803904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Numeric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803904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78224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187952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Positive class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187952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26.5 %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4462272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9560" y="4572000"/>
            <a:ext cx="2194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Train / Val /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572000"/>
            <a:ext cx="20116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1" i="0">
                <a:solidFill>
                  <a:srgbClr val="1A1A1A"/>
                </a:solidFill>
                <a:latin typeface="Calibri"/>
              </a:rPr>
              <a:t>4,929 / 705 / 1,409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4846320"/>
            <a:ext cx="3611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2 · Problem &amp; 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1" name="SectionBadge">
            <a:extLst>
              <a:ext uri="{FF2B5EF4-FFF2-40B4-BE49-F238E27FC236}">
                <a16:creationId xmlns:a16="http://schemas.microsoft.com/office/drawing/2014/main" id="{8D7E6DE4-A085-F446-8E5D-B7551982347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8C1E618-FA9C-C644-A50F-8ACC4CE24C4F}"/>
              </a:ext>
            </a:extLst>
          </p:cNvPr>
          <p:cNvSpPr/>
          <p:nvPr/>
        </p:nvSpPr>
        <p:spPr>
          <a:xfrm>
            <a:off x="7680959" y="2011680"/>
            <a:ext cx="50800" cy="393192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System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Six MLflow-managed stages backed by a single tracking store.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data_loader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load · clean · split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78380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24684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6124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6124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three baselines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54423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00728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92167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tune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167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Hyperopt TPE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30468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6772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8212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registry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212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staging → production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06512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52816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44256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4256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mlflow models serve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82556" y="2743200"/>
            <a:ext cx="128015" cy="164592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928860" y="2103120"/>
            <a:ext cx="1711452" cy="14173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20299" y="2267712"/>
            <a:ext cx="15285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onsolas"/>
              </a:rPr>
              <a:t>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20299" y="2788920"/>
            <a:ext cx="1528572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Calibri"/>
              </a:rPr>
              <a:t>PSI · KS · drift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023360"/>
            <a:ext cx="11091672" cy="12801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133087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MLflow Tracking Server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0916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Calibri"/>
              </a:rPr>
              <a:t>SQLite backend store · local filesystem artifact root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Experiments: telco_churn (training + tuning), telco_churn_monitoring · Registered model: telco-churn-classifier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3 · System overview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7" name="SectionBadge">
            <a:extLst>
              <a:ext uri="{FF2B5EF4-FFF2-40B4-BE49-F238E27FC236}">
                <a16:creationId xmlns:a16="http://schemas.microsoft.com/office/drawing/2014/main" id="{6D2A9996-7C47-F64C-8ACA-32D22BDF055B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Three baseline classifiers, all parameters and metrics logged.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21792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Models: LogisticRegression, RandomForestClassifier, GradientBoostingClassifier.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Each run logs parameters, train/val/test metrics, ROC curve, confusion matrix.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Model artifact is the full sklearn Pipeline with inferred signature + input example.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Demo: MLflow UI · open one baseline run, show metrics tab.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2057400"/>
            <a:ext cx="4754880" cy="411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2103120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2103120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58775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LogisticRegression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5877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0.8426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2760" y="2587752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0.605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971800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78040" y="309067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GradientBoosting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09067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0.8390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3090672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0.571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474720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3593591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RandomForest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59359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0.8223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3593591"/>
            <a:ext cx="1005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0.539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977639"/>
            <a:ext cx="475488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40880" y="411480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1">
                <a:solidFill>
                  <a:srgbClr val="5A5A5A"/>
                </a:solidFill>
                <a:latin typeface="Calibri"/>
              </a:rPr>
              <a:t>LogisticRegression is the strongest baseline out of the box.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4 · Experiment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8" name="SectionBadge">
            <a:extLst>
              <a:ext uri="{FF2B5EF4-FFF2-40B4-BE49-F238E27FC236}">
                <a16:creationId xmlns:a16="http://schemas.microsoft.com/office/drawing/2014/main" id="{B92C6032-F42B-C946-9F72-4386F79B1B8D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Hyperparameter Tuning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Hyperopt TPE over Gradient Boosting · 20 trials · nested MLflow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8580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Search space: n_estimators, learning_rate, max_depth, min_samples_leaf, min_samples_split, subsample.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Parent run holds the full search; each trial is a nested child run with its own parameters and metrics.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All 20 trials browsable as a sortable table in the MLflow UI.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Tuned Gradient Boosting beats every baseline including LogReg.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03120"/>
            <a:ext cx="3931920" cy="347472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0" y="2286000"/>
            <a:ext cx="3931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5A5A5A"/>
                </a:solidFill>
                <a:latin typeface="Calibri"/>
              </a:rPr>
              <a:t>Best test 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697479"/>
            <a:ext cx="3931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5800" b="1" i="0">
                <a:solidFill>
                  <a:srgbClr val="0B2A4A"/>
                </a:solidFill>
                <a:latin typeface="Calibri"/>
              </a:rPr>
              <a:t>0.8457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3886200"/>
            <a:ext cx="1371600" cy="762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0" y="4023360"/>
            <a:ext cx="3931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 i="1">
                <a:solidFill>
                  <a:srgbClr val="1A1A1A"/>
                </a:solidFill>
                <a:latin typeface="Calibri"/>
              </a:rPr>
              <a:t>Tuned Gradient Boosting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526279"/>
            <a:ext cx="35661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onsolas"/>
              </a:rPr>
              <a:t>learning_rate = 0.018     n_estimators = 225
max_depth     = 5         min_samples_leaf = 18
subsample     = 0.63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5 · Hyperparameter tuning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17" name="SectionBadge">
            <a:extLst>
              <a:ext uri="{FF2B5EF4-FFF2-40B4-BE49-F238E27FC236}">
                <a16:creationId xmlns:a16="http://schemas.microsoft.com/office/drawing/2014/main" id="{E86F0FC2-3AA2-4E45-94C5-973B19B44739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58FA49-A7E2-AE4D-8F47-15992A2A59EC}"/>
              </a:ext>
            </a:extLst>
          </p:cNvPr>
          <p:cNvSpPr/>
          <p:nvPr/>
        </p:nvSpPr>
        <p:spPr>
          <a:xfrm>
            <a:off x="7680959" y="2103120"/>
            <a:ext cx="50800" cy="347472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Model Registry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Best run promoted via MLflow aliases — staging → production.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8007" y="2103120"/>
            <a:ext cx="3291840" cy="4114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088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fresh model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88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model version 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82999" y="2880360"/>
            <a:ext cx="493775" cy="201168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4992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49927" y="2103120"/>
            <a:ext cx="3291840" cy="411480"/>
          </a:xfrm>
          <a:prstGeom prst="rect">
            <a:avLst/>
          </a:prstGeom>
          <a:solidFill>
            <a:srgbClr val="294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280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@staging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candidate ·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280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alias set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4919" y="2880360"/>
            <a:ext cx="493775" cy="201168"/>
          </a:xfrm>
          <a:prstGeom prst="rightArrow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381847" y="2103120"/>
            <a:ext cx="3291840" cy="16916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81847" y="2103120"/>
            <a:ext cx="3291840" cy="4114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64727" y="2139696"/>
            <a:ext cx="2926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onsolas"/>
              </a:rPr>
              <a:t>@production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4727" y="2697479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 i="1">
                <a:solidFill>
                  <a:srgbClr val="1A1A1A"/>
                </a:solidFill>
                <a:latin typeface="Calibri"/>
              </a:rPr>
              <a:t>serves /invocations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4727" y="3200400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5A5A5A"/>
                </a:solidFill>
                <a:latin typeface="Calibri"/>
              </a:rPr>
              <a:t>alias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97680"/>
            <a:ext cx="1109167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Command-line interface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617720"/>
            <a:ext cx="11091672" cy="155448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4690872"/>
            <a:ext cx="109728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python -m src.registry register-best
python -m src.registry transition 2 staging
python -m src.registry transition 2 production
python -m src.registry list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6 · Model Registry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0" name="SectionBadge">
            <a:extLst>
              <a:ext uri="{FF2B5EF4-FFF2-40B4-BE49-F238E27FC236}">
                <a16:creationId xmlns:a16="http://schemas.microsoft.com/office/drawing/2014/main" id="{6CF1BF7E-0607-D240-95CD-327198C97CCA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MLflow's built-in scoring server — zero serving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86400" cy="42062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512064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493776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mlflow models serve \
  --model-uri \
    models:/telco-churn-classifier@production \
  --port 5001 \
  --no-conda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GET   /ping            — health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onsolas"/>
              </a:rPr>
              <a:t>POST  /invocations     — dataframe_split payload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5486400" cy="420624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514600"/>
            <a:ext cx="512064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2578608"/>
            <a:ext cx="493776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onsolas"/>
              </a:rPr>
              <a:t>{ "dataframe_split": {
    "columns": [...19 features...],
    "data":    [[ "Female", 0, "Yes", ... ]]
}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4434840"/>
            <a:ext cx="51206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B0B7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9377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B2A4A"/>
                </a:solidFill>
                <a:latin typeface="Consolas"/>
              </a:rPr>
              <a:t>{ "predictions": [0, 1, 0]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30352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1">
                <a:solidFill>
                  <a:srgbClr val="5A5A5A"/>
                </a:solidFill>
                <a:latin typeface="Calibri"/>
              </a:rPr>
              <a:t>MLflow reconstructs the sklearn Pipeline from the registry artifact.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7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5" name="SectionBadge">
            <a:extLst>
              <a:ext uri="{FF2B5EF4-FFF2-40B4-BE49-F238E27FC236}">
                <a16:creationId xmlns:a16="http://schemas.microsoft.com/office/drawing/2014/main" id="{F818ADC8-9307-0E4F-B7CE-14CC66CEE88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186DEA-3C48-2346-9D5F-3B5B37C9244A}"/>
              </a:ext>
            </a:extLst>
          </p:cNvPr>
          <p:cNvSpPr/>
          <p:nvPr/>
        </p:nvSpPr>
        <p:spPr>
          <a:xfrm>
            <a:off x="548640" y="2011680"/>
            <a:ext cx="50800" cy="420624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3DC548-4329-DB49-8693-4CD328CF0034}"/>
              </a:ext>
            </a:extLst>
          </p:cNvPr>
          <p:cNvSpPr/>
          <p:nvPr/>
        </p:nvSpPr>
        <p:spPr>
          <a:xfrm>
            <a:off x="6309360" y="2011680"/>
            <a:ext cx="50800" cy="420624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Drift Monitoring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Three simulated production batches — logged as MLflow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713232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19202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max PSI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10312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192023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prod_roc_auc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71323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67919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67919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67919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5A5A5A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679192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0.834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0896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273552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feature_drift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2735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B01B1B"/>
                </a:solidFill>
                <a:latin typeface="Calibri"/>
              </a:rPr>
              <a:t>1.49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273552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46C43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273552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0.843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71323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3867911"/>
            <a:ext cx="2103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onsolas"/>
              </a:rPr>
              <a:t>concept_drift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86791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0.02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3867911"/>
            <a:ext cx="1280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5A5A5A"/>
                </a:solidFill>
                <a:latin typeface="Calibri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867911"/>
            <a:ext cx="1828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B01B1B"/>
                </a:solidFill>
                <a:latin typeface="Calibri"/>
              </a:rPr>
              <a:t>0.654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297680"/>
            <a:ext cx="7132320" cy="381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863840" y="2011680"/>
            <a:ext cx="3840480" cy="32918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0" y="2148840"/>
            <a:ext cx="3566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1">
                <a:solidFill>
                  <a:srgbClr val="FFFFFF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2560320"/>
            <a:ext cx="35661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PSI fires correctly on feature drift.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246120"/>
            <a:ext cx="35661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Performance stays stable under that drift — model generalises.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114800"/>
            <a:ext cx="356616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Concept drift is invisible to PSI — features unchanged, but performance collapses.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 i="1">
                <a:solidFill>
                  <a:srgbClr val="0B2A4A"/>
                </a:solidFill>
                <a:latin typeface="Calibri"/>
              </a:rPr>
              <a:t>→ Production monitoring must combine input distribution checks with performance metrics on labelled samples.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91672" cy="5080"/>
          </a:xfrm>
          <a:prstGeom prst="rect">
            <a:avLst/>
          </a:prstGeom>
          <a:solidFill>
            <a:srgbClr val="B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8 · Drift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38" name="SectionBadge">
            <a:extLst>
              <a:ext uri="{FF2B5EF4-FFF2-40B4-BE49-F238E27FC236}">
                <a16:creationId xmlns:a16="http://schemas.microsoft.com/office/drawing/2014/main" id="{2838D88F-6AE4-8D48-A285-6821A1763820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What MLflow Gave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Four concrete wins observed during the project.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-12700000" y="2039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39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Single source of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23160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Every parameter, metric, and artifact lives in one searchable store. No ad-hoc spreadsheets or screenshots.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-12700000" y="3182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82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Registry decouples training from serving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66160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Promoting a new model is a one-line alias change; the serving layer reads from @production and never imports model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-12700000" y="4325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Pipeline-as-artifact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59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The full sklearn Pipeline (preprocessor + estimator) is the model — this eliminates an entire class of training/serving skew bugs.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solidFill>
            <a:srgbClr val="F2F5FA"/>
          </a:solidFill>
          <a:ln w="6350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-12700000" y="5468112"/>
            <a:ext cx="457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468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One API for the full lifecycle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852159"/>
            <a:ext cx="98755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train · tune · register · serve · monitor all use the same client. Small surface area to learn and operate.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91672" cy="12700"/>
          </a:xfrm>
          <a:prstGeom prst="rect">
            <a:avLst/>
          </a:prstGeom>
          <a:solidFill>
            <a:srgbClr val="D9DEE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5A5A5A"/>
                </a:solidFill>
                <a:latin typeface="Calibri"/>
              </a:rPr>
              <a:t>Slide 9 · What MLflow gave 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6510528"/>
            <a:ext cx="5760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0" i="1">
                <a:solidFill>
                  <a:srgbClr val="5A5A5A"/>
                </a:solidFill>
                <a:latin typeface="Calibri"/>
              </a:rPr>
              <a:t>Mohamed Dribika · 2280197 · AIN-3009</a:t>
            </a:r>
          </a:p>
        </p:txBody>
      </p:sp>
      <p:sp>
        <p:nvSpPr>
          <p:cNvPr id="26" name="AccentBar_1">
            <a:extLst>
              <a:ext uri="{FF2B5EF4-FFF2-40B4-BE49-F238E27FC236}">
                <a16:creationId xmlns:a16="http://schemas.microsoft.com/office/drawing/2014/main" id="{B7027D82-DB0C-8944-AD9B-F9F5A6333F52}"/>
              </a:ext>
            </a:extLst>
          </p:cNvPr>
          <p:cNvSpPr/>
          <p:nvPr/>
        </p:nvSpPr>
        <p:spPr>
          <a:xfrm>
            <a:off x="546100" y="1917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Badge_1">
            <a:extLst>
              <a:ext uri="{FF2B5EF4-FFF2-40B4-BE49-F238E27FC236}">
                <a16:creationId xmlns:a16="http://schemas.microsoft.com/office/drawing/2014/main" id="{D464CBB3-4A60-BE4D-AEB8-E182E2552F63}"/>
              </a:ext>
            </a:extLst>
          </p:cNvPr>
          <p:cNvSpPr/>
          <p:nvPr/>
        </p:nvSpPr>
        <p:spPr>
          <a:xfrm>
            <a:off x="812800" y="2146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28" name="AccentBar_2">
            <a:extLst>
              <a:ext uri="{FF2B5EF4-FFF2-40B4-BE49-F238E27FC236}">
                <a16:creationId xmlns:a16="http://schemas.microsoft.com/office/drawing/2014/main" id="{58E602F1-2A56-E44D-A9FF-43FE6970CCE3}"/>
              </a:ext>
            </a:extLst>
          </p:cNvPr>
          <p:cNvSpPr/>
          <p:nvPr/>
        </p:nvSpPr>
        <p:spPr>
          <a:xfrm>
            <a:off x="546100" y="3060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Badge_2">
            <a:extLst>
              <a:ext uri="{FF2B5EF4-FFF2-40B4-BE49-F238E27FC236}">
                <a16:creationId xmlns:a16="http://schemas.microsoft.com/office/drawing/2014/main" id="{09F5D072-2C42-094D-929F-540B7F9856AD}"/>
              </a:ext>
            </a:extLst>
          </p:cNvPr>
          <p:cNvSpPr/>
          <p:nvPr/>
        </p:nvSpPr>
        <p:spPr>
          <a:xfrm>
            <a:off x="812800" y="3289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30" name="AccentBar_3">
            <a:extLst>
              <a:ext uri="{FF2B5EF4-FFF2-40B4-BE49-F238E27FC236}">
                <a16:creationId xmlns:a16="http://schemas.microsoft.com/office/drawing/2014/main" id="{06CDEC7A-0FBF-404E-84B7-C1CB378121B1}"/>
              </a:ext>
            </a:extLst>
          </p:cNvPr>
          <p:cNvSpPr/>
          <p:nvPr/>
        </p:nvSpPr>
        <p:spPr>
          <a:xfrm>
            <a:off x="546100" y="4203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Badge_3">
            <a:extLst>
              <a:ext uri="{FF2B5EF4-FFF2-40B4-BE49-F238E27FC236}">
                <a16:creationId xmlns:a16="http://schemas.microsoft.com/office/drawing/2014/main" id="{9AA891E9-1B56-8940-81EE-B557757A70C7}"/>
              </a:ext>
            </a:extLst>
          </p:cNvPr>
          <p:cNvSpPr/>
          <p:nvPr/>
        </p:nvSpPr>
        <p:spPr>
          <a:xfrm>
            <a:off x="812800" y="4432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32" name="AccentBar_4">
            <a:extLst>
              <a:ext uri="{FF2B5EF4-FFF2-40B4-BE49-F238E27FC236}">
                <a16:creationId xmlns:a16="http://schemas.microsoft.com/office/drawing/2014/main" id="{7661018E-AD6E-FC44-94C3-071E96E16C42}"/>
              </a:ext>
            </a:extLst>
          </p:cNvPr>
          <p:cNvSpPr/>
          <p:nvPr/>
        </p:nvSpPr>
        <p:spPr>
          <a:xfrm>
            <a:off x="546100" y="5346700"/>
            <a:ext cx="50800" cy="10541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Badge_4">
            <a:extLst>
              <a:ext uri="{FF2B5EF4-FFF2-40B4-BE49-F238E27FC236}">
                <a16:creationId xmlns:a16="http://schemas.microsoft.com/office/drawing/2014/main" id="{489C88BB-8997-D844-B9E1-600136058E9B}"/>
              </a:ext>
            </a:extLst>
          </p:cNvPr>
          <p:cNvSpPr/>
          <p:nvPr/>
        </p:nvSpPr>
        <p:spPr>
          <a:xfrm>
            <a:off x="812800" y="5575300"/>
            <a:ext cx="355600" cy="3556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25400000" y="411480"/>
            <a:ext cx="914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5A5A5A"/>
                </a:solidFill>
                <a:latin typeface="Calibri"/>
              </a:rPr>
              <a:t>§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482600"/>
            <a:ext cx="10414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1" i="0">
                <a:solidFill>
                  <a:srgbClr val="0B2A4A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19200"/>
            <a:ext cx="11091672" cy="25400"/>
          </a:xfrm>
          <a:prstGeom prst="rect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5A5A5A"/>
                </a:solidFill>
                <a:latin typeface="Calibri"/>
              </a:rPr>
              <a:t>Honest gaps &amp; natural next steps in a real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109167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Threshold not tuned — using 0.5; production needs a cost-aware threshold.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No automatic rollback on drift alert — natural extension: gate the @production alias on a rolling performance window.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Local SQLite backend store; multi-writer production would use Postgres and S3 / GCS object storage.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B2A4A"/>
                </a:solidFill>
                <a:latin typeface="Calibri"/>
              </a:rPr>
              <a:t>—  </a:t>
            </a:r>
            <a:r>
              <a:rPr sz="1400" b="0">
                <a:solidFill>
                  <a:srgbClr val="1A1A1A"/>
                </a:solidFill>
                <a:latin typeface="Calibri"/>
              </a:rPr>
              <a:t>Class imbalance only mild (~27 %), so no SMOTE / class weights — worth a sweep for the F1-vs-recall trade-off.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32120"/>
            <a:ext cx="11091672" cy="8686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1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0" name="SectionBadge">
            <a:extLst>
              <a:ext uri="{FF2B5EF4-FFF2-40B4-BE49-F238E27FC236}">
                <a16:creationId xmlns:a16="http://schemas.microsoft.com/office/drawing/2014/main" id="{CBF6661D-FD52-9E40-96C3-035105718A64}"/>
              </a:ext>
            </a:extLst>
          </p:cNvPr>
          <p:cNvSpPr/>
          <p:nvPr/>
        </p:nvSpPr>
        <p:spPr>
          <a:xfrm>
            <a:off x="546100" y="406400"/>
            <a:ext cx="406400" cy="406400"/>
          </a:xfrm>
          <a:prstGeom prst="ellipse">
            <a:avLst/>
          </a:prstGeom>
          <a:solidFill>
            <a:srgbClr val="0B2A4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  <a:latin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78D5A65-573E-6E4E-862E-A6352D3D4D5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9110908-2c94-47a2-810f-259f9862d67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1058</Words>
  <Application>Microsoft Macintosh PowerPoint</Application>
  <PresentationFormat>Widescreen</PresentationFormat>
  <Paragraphs>186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bika dribika</cp:lastModifiedBy>
  <cp:revision>2</cp:revision>
  <dcterms:created xsi:type="dcterms:W3CDTF">2013-01-27T09:14:16Z</dcterms:created>
  <dcterms:modified xsi:type="dcterms:W3CDTF">2026-05-17T09:51:30Z</dcterms:modified>
  <cp:category/>
</cp:coreProperties>
</file>