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52"/>
    <p:restoredTop sz="94613"/>
  </p:normalViewPr>
  <p:slideViewPr>
    <p:cSldViewPr snapToGrid="0" snapToObjects="1">
      <p:cViewPr varScale="1">
        <p:scale>
          <a:sx n="85" d="100"/>
          <a:sy n="85" d="100"/>
        </p:scale>
        <p:origin x="208" y="6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Bahçeşehir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07008"/>
            <a:ext cx="10332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Faculty of Engineering &amp; Natural 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99616"/>
            <a:ext cx="10332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Department of Artificial Intelligence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23744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200" b="1" i="0">
                <a:solidFill>
                  <a:srgbClr val="0B2A4A"/>
                </a:solidFill>
                <a:latin typeface="Calibri"/>
              </a:rPr>
              <a:t>Development and Evaluation of an MLflow-based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26664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200" b="1" i="0">
                <a:solidFill>
                  <a:srgbClr val="0B2A4A"/>
                </a:solidFill>
                <a:latin typeface="Calibri"/>
              </a:rPr>
              <a:t>ML Lifecycle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66744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0" i="1">
                <a:solidFill>
                  <a:srgbClr val="1A1A1A"/>
                </a:solidFill>
                <a:latin typeface="Calibri"/>
              </a:rPr>
              <a:t>Telco Customer Churn Prediction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5647" y="4114800"/>
            <a:ext cx="3200400" cy="2540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581144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Course: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81144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AIN-3009 — MLOps (Term Project)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55464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Author: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855464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Mohamed Dribika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9784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Student number: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129784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2280197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04104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Academic year: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404104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2025–2026</a:t>
            </a:r>
          </a:p>
        </p:txBody>
      </p:sp>
      <p:sp>
        <p:nvSpPr>
          <p:cNvPr id="18" name="TitleAccentBar">
            <a:extLst>
              <a:ext uri="{FF2B5EF4-FFF2-40B4-BE49-F238E27FC236}">
                <a16:creationId xmlns:a16="http://schemas.microsoft.com/office/drawing/2014/main" id="{DCDBA2F6-6546-CC47-8A82-B7AAABFB1852}"/>
              </a:ext>
            </a:extLst>
          </p:cNvPr>
          <p:cNvSpPr/>
          <p:nvPr/>
        </p:nvSpPr>
        <p:spPr>
          <a:xfrm>
            <a:off x="457200" y="2527300"/>
            <a:ext cx="50800" cy="165100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25400000" y="41148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§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00" y="482600"/>
            <a:ext cx="10414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Calibri"/>
              </a:rPr>
              <a:t>Problem &amp;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19200"/>
            <a:ext cx="11091672" cy="2540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Predict customer churn for a telecommunications operator.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676656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Retention is far cheaper than acquisition — predict cancellation before the next billing cycle.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Binary classification: Churn ∈ {0, 1}.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Dataset: IBM Telco Customer Churn — 7,043 customers, 20 features (15 categorical, 4 numeric).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Class prevalence: 26.5 % positive (mild imbalance).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Stratified split: 70 % train · 10 % validation · 20 % 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011680"/>
            <a:ext cx="3931920" cy="3931920"/>
          </a:xfrm>
          <a:prstGeom prst="rect">
            <a:avLst/>
          </a:prstGeom>
          <a:solidFill>
            <a:srgbClr val="F2F5FA"/>
          </a:solidFill>
          <a:ln w="635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2148840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Dataset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651760"/>
            <a:ext cx="2194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2651760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7,043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926080"/>
            <a:ext cx="361188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3035808"/>
            <a:ext cx="2194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35808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3310128"/>
            <a:ext cx="361188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3419856"/>
            <a:ext cx="2194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Categorical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419856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3694176"/>
            <a:ext cx="361188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3803904"/>
            <a:ext cx="2194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Numeric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803904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4078224"/>
            <a:ext cx="361188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4187952"/>
            <a:ext cx="2194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Positive 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4187952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26.5 %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4462272"/>
            <a:ext cx="361188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09560" y="4572000"/>
            <a:ext cx="2194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Train / Val /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4572000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4,929 / 705 / 1,409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4846320"/>
            <a:ext cx="361188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6446520"/>
            <a:ext cx="11091672" cy="508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  <a:latin typeface="Calibri"/>
              </a:rPr>
              <a:t>Slide 2 · Problem &amp; Dataset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6510528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1">
                <a:solidFill>
                  <a:srgbClr val="5A5A5A"/>
                </a:solidFill>
                <a:latin typeface="Calibri"/>
              </a:rPr>
              <a:t>Mohamed Dribika · 2280197 · AIN-3009</a:t>
            </a:r>
          </a:p>
        </p:txBody>
      </p:sp>
      <p:sp>
        <p:nvSpPr>
          <p:cNvPr id="31" name="SectionBadge">
            <a:extLst>
              <a:ext uri="{FF2B5EF4-FFF2-40B4-BE49-F238E27FC236}">
                <a16:creationId xmlns:a16="http://schemas.microsoft.com/office/drawing/2014/main" id="{8D7E6DE4-A085-F446-8E5D-B75519823474}"/>
              </a:ext>
            </a:extLst>
          </p:cNvPr>
          <p:cNvSpPr/>
          <p:nvPr/>
        </p:nvSpPr>
        <p:spPr>
          <a:xfrm>
            <a:off x="546100" y="406400"/>
            <a:ext cx="406400" cy="406400"/>
          </a:xfrm>
          <a:prstGeom prst="ellipse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C1E618-FA9C-C644-A50F-8ACC4CE24C4F}"/>
              </a:ext>
            </a:extLst>
          </p:cNvPr>
          <p:cNvSpPr/>
          <p:nvPr/>
        </p:nvSpPr>
        <p:spPr>
          <a:xfrm>
            <a:off x="7680959" y="2011680"/>
            <a:ext cx="50800" cy="393192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25400000" y="41148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§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00" y="482600"/>
            <a:ext cx="10414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Calibri"/>
              </a:rPr>
              <a:t>System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19200"/>
            <a:ext cx="11091672" cy="2540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Six MLflow-managed stages backed by a single tracking store.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711452" cy="1417320"/>
          </a:xfrm>
          <a:prstGeom prst="rect">
            <a:avLst/>
          </a:prstGeom>
          <a:solidFill>
            <a:srgbClr val="F2F5FA"/>
          </a:solidFill>
          <a:ln w="635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67712"/>
            <a:ext cx="152857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onsolas"/>
              </a:rPr>
              <a:t>data_loader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52857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load · clean · split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78380" y="2743200"/>
            <a:ext cx="128015" cy="164592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24684" y="2103120"/>
            <a:ext cx="1711452" cy="1417320"/>
          </a:xfrm>
          <a:prstGeom prst="rect">
            <a:avLst/>
          </a:prstGeom>
          <a:solidFill>
            <a:srgbClr val="F2F5FA"/>
          </a:solidFill>
          <a:ln w="635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6124" y="2267712"/>
            <a:ext cx="152857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onsolas"/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6124" y="2788920"/>
            <a:ext cx="152857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three baselines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54423" y="2743200"/>
            <a:ext cx="128015" cy="164592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00728" y="2103120"/>
            <a:ext cx="1711452" cy="1417320"/>
          </a:xfrm>
          <a:prstGeom prst="rect">
            <a:avLst/>
          </a:prstGeom>
          <a:solidFill>
            <a:srgbClr val="F2F5FA"/>
          </a:solidFill>
          <a:ln w="635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92167" y="2267712"/>
            <a:ext cx="152857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onsolas"/>
              </a:rPr>
              <a:t>tune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2167" y="2788920"/>
            <a:ext cx="152857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Hyperopt TPE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30468" y="2743200"/>
            <a:ext cx="128015" cy="164592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6772" y="2103120"/>
            <a:ext cx="1711452" cy="1417320"/>
          </a:xfrm>
          <a:prstGeom prst="rect">
            <a:avLst/>
          </a:prstGeom>
          <a:solidFill>
            <a:srgbClr val="F2F5FA"/>
          </a:solidFill>
          <a:ln w="635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8212" y="2267712"/>
            <a:ext cx="152857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onsolas"/>
              </a:rPr>
              <a:t>registry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8212" y="2788920"/>
            <a:ext cx="152857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staging → production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906512" y="2743200"/>
            <a:ext cx="128015" cy="164592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52816" y="2103120"/>
            <a:ext cx="1711452" cy="1417320"/>
          </a:xfrm>
          <a:prstGeom prst="rect">
            <a:avLst/>
          </a:prstGeom>
          <a:solidFill>
            <a:srgbClr val="F2F5FA"/>
          </a:solidFill>
          <a:ln w="635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44256" y="2267712"/>
            <a:ext cx="152857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onsolas"/>
              </a:rPr>
              <a:t>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4256" y="2788920"/>
            <a:ext cx="152857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mlflow models serve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82556" y="2743200"/>
            <a:ext cx="128015" cy="164592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928860" y="2103120"/>
            <a:ext cx="1711452" cy="1417320"/>
          </a:xfrm>
          <a:prstGeom prst="rect">
            <a:avLst/>
          </a:prstGeom>
          <a:solidFill>
            <a:srgbClr val="F2F5FA"/>
          </a:solidFill>
          <a:ln w="635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20299" y="2267712"/>
            <a:ext cx="152857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onsolas"/>
              </a:rPr>
              <a:t>monitor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20299" y="2788920"/>
            <a:ext cx="152857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PSI · KS · drift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23360"/>
            <a:ext cx="11091672" cy="12801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133087"/>
            <a:ext cx="1109167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MLflow Tracking Server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80560"/>
            <a:ext cx="110916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SQLite backend store · local filesystem artifact root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00600"/>
            <a:ext cx="1109167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Experiments: telco_churn (training + tuning), telco_churn_monitoring · Registered model: telco-churn-classifier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446520"/>
            <a:ext cx="11091672" cy="508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  <a:latin typeface="Calibri"/>
              </a:rPr>
              <a:t>Slide 3 · System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6510528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1">
                <a:solidFill>
                  <a:srgbClr val="5A5A5A"/>
                </a:solidFill>
                <a:latin typeface="Calibri"/>
              </a:rPr>
              <a:t>Mohamed Dribika · 2280197 · AIN-3009</a:t>
            </a:r>
          </a:p>
        </p:txBody>
      </p:sp>
      <p:sp>
        <p:nvSpPr>
          <p:cNvPr id="37" name="SectionBadge">
            <a:extLst>
              <a:ext uri="{FF2B5EF4-FFF2-40B4-BE49-F238E27FC236}">
                <a16:creationId xmlns:a16="http://schemas.microsoft.com/office/drawing/2014/main" id="{6D2A9996-7C47-F64C-8ACA-32D22BDF055B}"/>
              </a:ext>
            </a:extLst>
          </p:cNvPr>
          <p:cNvSpPr/>
          <p:nvPr/>
        </p:nvSpPr>
        <p:spPr>
          <a:xfrm>
            <a:off x="546100" y="406400"/>
            <a:ext cx="406400" cy="406400"/>
          </a:xfrm>
          <a:prstGeom prst="ellipse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25400000" y="41148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§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00" y="482600"/>
            <a:ext cx="10414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Calibri"/>
              </a:rPr>
              <a:t>Experiment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19200"/>
            <a:ext cx="11091672" cy="2540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Three baseline classifiers, all parameters and metrics logged.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62179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Models: LogisticRegression, RandomForestClassifier, GradientBoostingClassifier.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Each run logs parameters, train/val/test metrics, ROC curve, confusion matrix.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Model artifact is the full sklearn Pipeline with inferred signature + input example.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Demo: MLflow UI · open one baseline run, show metrics tab.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2057400"/>
            <a:ext cx="4754880" cy="4114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78040" y="2103120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103120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Test ROC-AUC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2103120"/>
            <a:ext cx="1005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Test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587752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LogisticRegression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587752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0.8426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2587752"/>
            <a:ext cx="1005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0.605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2971800"/>
            <a:ext cx="475488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3090672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GradientBoosting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090672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0.8390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3090672"/>
            <a:ext cx="1005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0.571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3474720"/>
            <a:ext cx="475488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78040" y="3593591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RandomForest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593591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0.8223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3593591"/>
            <a:ext cx="1005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0.539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3977639"/>
            <a:ext cx="475488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411480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1">
                <a:solidFill>
                  <a:srgbClr val="5A5A5A"/>
                </a:solidFill>
                <a:latin typeface="Calibri"/>
              </a:rPr>
              <a:t>LogisticRegression is the strongest baseline out of the box.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446520"/>
            <a:ext cx="11091672" cy="508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  <a:latin typeface="Calibri"/>
              </a:rPr>
              <a:t>Slide 4 · Experiment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6510528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1">
                <a:solidFill>
                  <a:srgbClr val="5A5A5A"/>
                </a:solidFill>
                <a:latin typeface="Calibri"/>
              </a:rPr>
              <a:t>Mohamed Dribika · 2280197 · AIN-3009</a:t>
            </a:r>
          </a:p>
        </p:txBody>
      </p:sp>
      <p:sp>
        <p:nvSpPr>
          <p:cNvPr id="28" name="SectionBadge">
            <a:extLst>
              <a:ext uri="{FF2B5EF4-FFF2-40B4-BE49-F238E27FC236}">
                <a16:creationId xmlns:a16="http://schemas.microsoft.com/office/drawing/2014/main" id="{B92C6032-F42B-C946-9F72-4386F79B1B8D}"/>
              </a:ext>
            </a:extLst>
          </p:cNvPr>
          <p:cNvSpPr/>
          <p:nvPr/>
        </p:nvSpPr>
        <p:spPr>
          <a:xfrm>
            <a:off x="546100" y="406400"/>
            <a:ext cx="406400" cy="406400"/>
          </a:xfrm>
          <a:prstGeom prst="ellipse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25400000" y="41148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§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00" y="482600"/>
            <a:ext cx="10414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Calibri"/>
              </a:rPr>
              <a:t>Hyperparameter 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19200"/>
            <a:ext cx="11091672" cy="2540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Hyperopt TPE over Gradient Boosting · 20 trials · nested MLflow 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68580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Search space: n_estimators, learning_rate, max_depth, min_samples_leaf, min_samples_split, subsample.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Parent run holds the full search; each trial is a nested child run with its own parameters and metrics.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All 20 trials browsable as a sortable table in the MLflow UI.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Tuned Gradient Boosting beats every baseline including LogReg.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103120"/>
            <a:ext cx="3931920" cy="3474720"/>
          </a:xfrm>
          <a:prstGeom prst="rect">
            <a:avLst/>
          </a:prstGeom>
          <a:solidFill>
            <a:srgbClr val="F2F5FA"/>
          </a:solidFill>
          <a:ln w="635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2286000"/>
            <a:ext cx="3931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>
                <a:solidFill>
                  <a:srgbClr val="5A5A5A"/>
                </a:solidFill>
                <a:latin typeface="Calibri"/>
              </a:rPr>
              <a:t>Best test ROC-AUC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697479"/>
            <a:ext cx="39319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5800" b="1" i="0">
                <a:solidFill>
                  <a:srgbClr val="0B2A4A"/>
                </a:solidFill>
                <a:latin typeface="Calibri"/>
              </a:rPr>
              <a:t>0.8457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3886200"/>
            <a:ext cx="1371600" cy="76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0" y="4023360"/>
            <a:ext cx="3931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>
                <a:solidFill>
                  <a:srgbClr val="1A1A1A"/>
                </a:solidFill>
                <a:latin typeface="Calibri"/>
              </a:rPr>
              <a:t>Tuned Gradient Boosting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526279"/>
            <a:ext cx="356616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learning_rate = 0.018     n_estimators = 225
max_depth     = 5         min_samples_leaf = 18
subsample     = 0.63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91672" cy="508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  <a:latin typeface="Calibri"/>
              </a:rPr>
              <a:t>Slide 5 · Hyperparameter 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6510528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1">
                <a:solidFill>
                  <a:srgbClr val="5A5A5A"/>
                </a:solidFill>
                <a:latin typeface="Calibri"/>
              </a:rPr>
              <a:t>Mohamed Dribika · 2280197 · AIN-3009</a:t>
            </a:r>
          </a:p>
        </p:txBody>
      </p:sp>
      <p:sp>
        <p:nvSpPr>
          <p:cNvPr id="17" name="SectionBadge">
            <a:extLst>
              <a:ext uri="{FF2B5EF4-FFF2-40B4-BE49-F238E27FC236}">
                <a16:creationId xmlns:a16="http://schemas.microsoft.com/office/drawing/2014/main" id="{E86F0FC2-3AA2-4E45-94C5-973B19B44739}"/>
              </a:ext>
            </a:extLst>
          </p:cNvPr>
          <p:cNvSpPr/>
          <p:nvPr/>
        </p:nvSpPr>
        <p:spPr>
          <a:xfrm>
            <a:off x="546100" y="406400"/>
            <a:ext cx="406400" cy="406400"/>
          </a:xfrm>
          <a:prstGeom prst="ellipse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58FA49-A7E2-AE4D-8F47-15992A2A59EC}"/>
              </a:ext>
            </a:extLst>
          </p:cNvPr>
          <p:cNvSpPr/>
          <p:nvPr/>
        </p:nvSpPr>
        <p:spPr>
          <a:xfrm>
            <a:off x="7680959" y="2103120"/>
            <a:ext cx="50800" cy="347472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25400000" y="41148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§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00" y="482600"/>
            <a:ext cx="10414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Calibri"/>
              </a:rPr>
              <a:t>Model Registry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19200"/>
            <a:ext cx="11091672" cy="2540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Best run promoted via MLflow aliases — staging → production.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007" y="2103120"/>
            <a:ext cx="3291840" cy="1691640"/>
          </a:xfrm>
          <a:prstGeom prst="rect">
            <a:avLst/>
          </a:prstGeom>
          <a:solidFill>
            <a:srgbClr val="F2F5FA"/>
          </a:solidFill>
          <a:ln w="635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8007" y="2103120"/>
            <a:ext cx="3291840" cy="41148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0887" y="2139696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2697479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1">
                <a:solidFill>
                  <a:srgbClr val="1A1A1A"/>
                </a:solidFill>
                <a:latin typeface="Calibri"/>
              </a:rPr>
              <a:t>fresh model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3200400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  <a:latin typeface="Calibri"/>
              </a:rPr>
              <a:t>model version 0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82999" y="2880360"/>
            <a:ext cx="493775" cy="201168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49927" y="2103120"/>
            <a:ext cx="3291840" cy="1691640"/>
          </a:xfrm>
          <a:prstGeom prst="rect">
            <a:avLst/>
          </a:prstGeom>
          <a:solidFill>
            <a:srgbClr val="F2F5FA"/>
          </a:solidFill>
          <a:ln w="635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9927" y="2103120"/>
            <a:ext cx="3291840" cy="411480"/>
          </a:xfrm>
          <a:prstGeom prst="rect">
            <a:avLst/>
          </a:prstGeom>
          <a:solidFill>
            <a:srgbClr val="294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2807" y="2139696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@staging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807" y="2697479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1">
                <a:solidFill>
                  <a:srgbClr val="1A1A1A"/>
                </a:solidFill>
                <a:latin typeface="Calibri"/>
              </a:rPr>
              <a:t>candidate ·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807" y="3200400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  <a:latin typeface="Calibri"/>
              </a:rPr>
              <a:t>alias set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14919" y="2880360"/>
            <a:ext cx="493775" cy="201168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81847" y="2103120"/>
            <a:ext cx="3291840" cy="1691640"/>
          </a:xfrm>
          <a:prstGeom prst="rect">
            <a:avLst/>
          </a:prstGeom>
          <a:solidFill>
            <a:srgbClr val="F2F5FA"/>
          </a:solidFill>
          <a:ln w="635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81847" y="2103120"/>
            <a:ext cx="3291840" cy="4114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64727" y="2139696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@production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4727" y="2697479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1">
                <a:solidFill>
                  <a:srgbClr val="1A1A1A"/>
                </a:solidFill>
                <a:latin typeface="Calibri"/>
              </a:rPr>
              <a:t>serves /invocations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4727" y="3200400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  <a:latin typeface="Calibri"/>
              </a:rPr>
              <a:t>alias 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110916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Command-line interface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17720"/>
            <a:ext cx="11091672" cy="1554480"/>
          </a:xfrm>
          <a:prstGeom prst="rect">
            <a:avLst/>
          </a:prstGeom>
          <a:solidFill>
            <a:srgbClr val="F2F5FA"/>
          </a:solidFill>
          <a:ln w="635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690872"/>
            <a:ext cx="109728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python -m src.registry register-best
python -m src.registry transition 2 staging
python -m src.registry transition 2 production
python -m src.registry list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46520"/>
            <a:ext cx="11091672" cy="508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  <a:latin typeface="Calibri"/>
              </a:rPr>
              <a:t>Slide 6 · Model Registry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6510528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1">
                <a:solidFill>
                  <a:srgbClr val="5A5A5A"/>
                </a:solidFill>
                <a:latin typeface="Calibri"/>
              </a:rPr>
              <a:t>Mohamed Dribika · 2280197 · AIN-3009</a:t>
            </a:r>
          </a:p>
        </p:txBody>
      </p:sp>
      <p:sp>
        <p:nvSpPr>
          <p:cNvPr id="30" name="SectionBadge">
            <a:extLst>
              <a:ext uri="{FF2B5EF4-FFF2-40B4-BE49-F238E27FC236}">
                <a16:creationId xmlns:a16="http://schemas.microsoft.com/office/drawing/2014/main" id="{6CF1BF7E-0607-D240-95CD-327198C97CCA}"/>
              </a:ext>
            </a:extLst>
          </p:cNvPr>
          <p:cNvSpPr/>
          <p:nvPr/>
        </p:nvSpPr>
        <p:spPr>
          <a:xfrm>
            <a:off x="546100" y="406400"/>
            <a:ext cx="406400" cy="406400"/>
          </a:xfrm>
          <a:prstGeom prst="ellipse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25400000" y="41148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§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00" y="482600"/>
            <a:ext cx="10414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Calibri"/>
              </a:rPr>
              <a:t>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19200"/>
            <a:ext cx="11091672" cy="2540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MLflow's built-in scoring server — zero serving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00" cy="4206240"/>
          </a:xfrm>
          <a:prstGeom prst="rect">
            <a:avLst/>
          </a:prstGeom>
          <a:solidFill>
            <a:srgbClr val="F2F5FA"/>
          </a:solidFill>
          <a:ln w="635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51206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493776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mlflow models serve \
  --model-uri \
    models:/telco-churn-classifier@production \
  --port 5001 \
  --no-conda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GET   /ping            — health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6636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POST  /invocations     — dataframe_split payload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011680"/>
            <a:ext cx="5486400" cy="4206240"/>
          </a:xfrm>
          <a:prstGeom prst="rect">
            <a:avLst/>
          </a:prstGeom>
          <a:solidFill>
            <a:srgbClr val="F2F5FA"/>
          </a:solidFill>
          <a:ln w="635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14884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Request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514600"/>
            <a:ext cx="5120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578608"/>
            <a:ext cx="493776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{ "dataframe_split": {
    "columns": [...19 features...],
    "data":    [[ "Female", 0, "Yes", ... ]]
}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Response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4434840"/>
            <a:ext cx="5120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4526280"/>
            <a:ext cx="49377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onsolas"/>
              </a:rPr>
              <a:t>{ "predictions": [0, 1, 0]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30352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1">
                <a:solidFill>
                  <a:srgbClr val="5A5A5A"/>
                </a:solidFill>
                <a:latin typeface="Calibri"/>
              </a:rPr>
              <a:t>MLflow reconstructs the sklearn Pipeline from the registry artifact.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46520"/>
            <a:ext cx="11091672" cy="508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  <a:latin typeface="Calibri"/>
              </a:rPr>
              <a:t>Slide 7 ·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6510528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1">
                <a:solidFill>
                  <a:srgbClr val="5A5A5A"/>
                </a:solidFill>
                <a:latin typeface="Calibri"/>
              </a:rPr>
              <a:t>Mohamed Dribika · 2280197 · AIN-3009</a:t>
            </a:r>
          </a:p>
        </p:txBody>
      </p:sp>
      <p:sp>
        <p:nvSpPr>
          <p:cNvPr id="25" name="SectionBadge">
            <a:extLst>
              <a:ext uri="{FF2B5EF4-FFF2-40B4-BE49-F238E27FC236}">
                <a16:creationId xmlns:a16="http://schemas.microsoft.com/office/drawing/2014/main" id="{F818ADC8-9307-0E4F-B7CE-14CC66CEE884}"/>
              </a:ext>
            </a:extLst>
          </p:cNvPr>
          <p:cNvSpPr/>
          <p:nvPr/>
        </p:nvSpPr>
        <p:spPr>
          <a:xfrm>
            <a:off x="546100" y="406400"/>
            <a:ext cx="406400" cy="406400"/>
          </a:xfrm>
          <a:prstGeom prst="ellipse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186DEA-3C48-2346-9D5F-3B5B37C9244A}"/>
              </a:ext>
            </a:extLst>
          </p:cNvPr>
          <p:cNvSpPr/>
          <p:nvPr/>
        </p:nvSpPr>
        <p:spPr>
          <a:xfrm>
            <a:off x="548640" y="2011680"/>
            <a:ext cx="50800" cy="420624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3DC548-4329-DB49-8693-4CD328CF0034}"/>
              </a:ext>
            </a:extLst>
          </p:cNvPr>
          <p:cNvSpPr/>
          <p:nvPr/>
        </p:nvSpPr>
        <p:spPr>
          <a:xfrm>
            <a:off x="6309360" y="2011680"/>
            <a:ext cx="50800" cy="420624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25400000" y="41148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§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00" y="482600"/>
            <a:ext cx="10414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Calibri"/>
              </a:rPr>
              <a:t>Drift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19200"/>
            <a:ext cx="11091672" cy="2540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Three simulated production batches — logged as MLflow runs.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713232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92023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103120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max PSI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03120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103120"/>
            <a:ext cx="192023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prod_roc_auc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7132320" cy="59436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679192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onsolas"/>
              </a:rPr>
              <a:t>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679192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0.02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679192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5A5A5A"/>
                </a:solidFill>
                <a:latin typeface="Calibri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679192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0.834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08960"/>
            <a:ext cx="713232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273552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onsolas"/>
              </a:rPr>
              <a:t>feature_drift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273552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B01B1B"/>
                </a:solidFill>
                <a:latin typeface="Calibri"/>
              </a:rPr>
              <a:t>1.49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273552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46C43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273552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0.843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03320"/>
            <a:ext cx="713232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3703320"/>
            <a:ext cx="7132320" cy="59436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867911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onsolas"/>
              </a:rPr>
              <a:t>concept_drift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867911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0.02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3867911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5A5A5A"/>
                </a:solidFill>
                <a:latin typeface="Calibr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3867911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B01B1B"/>
                </a:solidFill>
                <a:latin typeface="Calibri"/>
              </a:rPr>
              <a:t>0.654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97680"/>
            <a:ext cx="713232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863840" y="2011680"/>
            <a:ext cx="3840480" cy="3291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0" y="2148840"/>
            <a:ext cx="3566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1">
                <a:solidFill>
                  <a:srgbClr val="FFFFFF"/>
                </a:solidFill>
                <a:latin typeface="Calibri"/>
              </a:rPr>
              <a:t>Key 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2560320"/>
            <a:ext cx="35661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PSI fires correctly on feature drift.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246120"/>
            <a:ext cx="35661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Performance stays stable under that drift — model generalises.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114800"/>
            <a:ext cx="356616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Concept drift is invisible to PSI — features unchanged, but performance collapses.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1">
                <a:solidFill>
                  <a:srgbClr val="0B2A4A"/>
                </a:solidFill>
                <a:latin typeface="Calibri"/>
              </a:rPr>
              <a:t>→ Production monitoring must combine input distribution checks with performance metrics on labelled samples.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446520"/>
            <a:ext cx="11091672" cy="508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  <a:latin typeface="Calibri"/>
              </a:rPr>
              <a:t>Slide 8 · Drift monitoring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6510528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1">
                <a:solidFill>
                  <a:srgbClr val="5A5A5A"/>
                </a:solidFill>
                <a:latin typeface="Calibri"/>
              </a:rPr>
              <a:t>Mohamed Dribika · 2280197 · AIN-3009</a:t>
            </a:r>
          </a:p>
        </p:txBody>
      </p:sp>
      <p:sp>
        <p:nvSpPr>
          <p:cNvPr id="38" name="SectionBadge">
            <a:extLst>
              <a:ext uri="{FF2B5EF4-FFF2-40B4-BE49-F238E27FC236}">
                <a16:creationId xmlns:a16="http://schemas.microsoft.com/office/drawing/2014/main" id="{2838D88F-6AE4-8D48-A285-6821A1763820}"/>
              </a:ext>
            </a:extLst>
          </p:cNvPr>
          <p:cNvSpPr/>
          <p:nvPr/>
        </p:nvSpPr>
        <p:spPr>
          <a:xfrm>
            <a:off x="546100" y="406400"/>
            <a:ext cx="406400" cy="406400"/>
          </a:xfrm>
          <a:prstGeom prst="ellipse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§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Calibri"/>
              </a:rPr>
              <a:t>What MLflow Gave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Four concrete wins observed during the project.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1091672" cy="1051560"/>
          </a:xfrm>
          <a:prstGeom prst="rect">
            <a:avLst/>
          </a:prstGeom>
          <a:solidFill>
            <a:srgbClr val="F2F5FA"/>
          </a:solidFill>
          <a:ln w="635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-12700000" y="2039112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39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Single source of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23160"/>
            <a:ext cx="9875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Every parameter, metric, and artifact lives in one searchable store. No ad-hoc spreadsheets or screenshots.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63240"/>
            <a:ext cx="11091672" cy="1051560"/>
          </a:xfrm>
          <a:prstGeom prst="rect">
            <a:avLst/>
          </a:prstGeom>
          <a:solidFill>
            <a:srgbClr val="F2F5FA"/>
          </a:solidFill>
          <a:ln w="635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-12700000" y="3182112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82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Registry decouples training from serving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566160"/>
            <a:ext cx="9875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Promoting a new model is a one-line alias change; the serving layer reads from @production and never imports model code.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11091672" cy="1051560"/>
          </a:xfrm>
          <a:prstGeom prst="rect">
            <a:avLst/>
          </a:prstGeom>
          <a:solidFill>
            <a:srgbClr val="F2F5FA"/>
          </a:solidFill>
          <a:ln w="635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-12700000" y="4325112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25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Pipeline-as-artifact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709159"/>
            <a:ext cx="9875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The full sklearn Pipeline (preprocessor + estimator) is the model — this eliminates an entire class of training/serving skew bugs.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349240"/>
            <a:ext cx="11091672" cy="1051560"/>
          </a:xfrm>
          <a:prstGeom prst="rect">
            <a:avLst/>
          </a:prstGeom>
          <a:solidFill>
            <a:srgbClr val="F2F5FA"/>
          </a:solidFill>
          <a:ln w="635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-12700000" y="5468112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468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One API for the full lifecycle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852159"/>
            <a:ext cx="9875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train · tune · register · serve · monitor all use the same client. Small surface area to learn and operate.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46520"/>
            <a:ext cx="11091672" cy="12700"/>
          </a:xfrm>
          <a:prstGeom prst="rect">
            <a:avLst/>
          </a:prstGeom>
          <a:solidFill>
            <a:srgbClr val="D9DEE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  <a:latin typeface="Calibri"/>
              </a:rPr>
              <a:t>Slide 9 · What MLflow gave 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6510528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1">
                <a:solidFill>
                  <a:srgbClr val="5A5A5A"/>
                </a:solidFill>
                <a:latin typeface="Calibri"/>
              </a:rPr>
              <a:t>Mohamed Dribika · 2280197 · AIN-3009</a:t>
            </a:r>
          </a:p>
        </p:txBody>
      </p:sp>
      <p:sp>
        <p:nvSpPr>
          <p:cNvPr id="26" name="AccentBar_1">
            <a:extLst>
              <a:ext uri="{FF2B5EF4-FFF2-40B4-BE49-F238E27FC236}">
                <a16:creationId xmlns:a16="http://schemas.microsoft.com/office/drawing/2014/main" id="{B7027D82-DB0C-8944-AD9B-F9F5A6333F52}"/>
              </a:ext>
            </a:extLst>
          </p:cNvPr>
          <p:cNvSpPr/>
          <p:nvPr/>
        </p:nvSpPr>
        <p:spPr>
          <a:xfrm>
            <a:off x="546100" y="1917700"/>
            <a:ext cx="50800" cy="105410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Badge_1">
            <a:extLst>
              <a:ext uri="{FF2B5EF4-FFF2-40B4-BE49-F238E27FC236}">
                <a16:creationId xmlns:a16="http://schemas.microsoft.com/office/drawing/2014/main" id="{D464CBB3-4A60-BE4D-AEB8-E182E2552F63}"/>
              </a:ext>
            </a:extLst>
          </p:cNvPr>
          <p:cNvSpPr/>
          <p:nvPr/>
        </p:nvSpPr>
        <p:spPr>
          <a:xfrm>
            <a:off x="812800" y="2146300"/>
            <a:ext cx="355600" cy="355600"/>
          </a:xfrm>
          <a:prstGeom prst="ellipse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8" name="AccentBar_2">
            <a:extLst>
              <a:ext uri="{FF2B5EF4-FFF2-40B4-BE49-F238E27FC236}">
                <a16:creationId xmlns:a16="http://schemas.microsoft.com/office/drawing/2014/main" id="{58E602F1-2A56-E44D-A9FF-43FE6970CCE3}"/>
              </a:ext>
            </a:extLst>
          </p:cNvPr>
          <p:cNvSpPr/>
          <p:nvPr/>
        </p:nvSpPr>
        <p:spPr>
          <a:xfrm>
            <a:off x="546100" y="3060700"/>
            <a:ext cx="50800" cy="105410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Badge_2">
            <a:extLst>
              <a:ext uri="{FF2B5EF4-FFF2-40B4-BE49-F238E27FC236}">
                <a16:creationId xmlns:a16="http://schemas.microsoft.com/office/drawing/2014/main" id="{09F5D072-2C42-094D-929F-540B7F9856AD}"/>
              </a:ext>
            </a:extLst>
          </p:cNvPr>
          <p:cNvSpPr/>
          <p:nvPr/>
        </p:nvSpPr>
        <p:spPr>
          <a:xfrm>
            <a:off x="812800" y="3289300"/>
            <a:ext cx="355600" cy="355600"/>
          </a:xfrm>
          <a:prstGeom prst="ellipse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30" name="AccentBar_3">
            <a:extLst>
              <a:ext uri="{FF2B5EF4-FFF2-40B4-BE49-F238E27FC236}">
                <a16:creationId xmlns:a16="http://schemas.microsoft.com/office/drawing/2014/main" id="{06CDEC7A-0FBF-404E-84B7-C1CB378121B1}"/>
              </a:ext>
            </a:extLst>
          </p:cNvPr>
          <p:cNvSpPr/>
          <p:nvPr/>
        </p:nvSpPr>
        <p:spPr>
          <a:xfrm>
            <a:off x="546100" y="4203700"/>
            <a:ext cx="50800" cy="105410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Badge_3">
            <a:extLst>
              <a:ext uri="{FF2B5EF4-FFF2-40B4-BE49-F238E27FC236}">
                <a16:creationId xmlns:a16="http://schemas.microsoft.com/office/drawing/2014/main" id="{9AA891E9-1B56-8940-81EE-B557757A70C7}"/>
              </a:ext>
            </a:extLst>
          </p:cNvPr>
          <p:cNvSpPr/>
          <p:nvPr/>
        </p:nvSpPr>
        <p:spPr>
          <a:xfrm>
            <a:off x="812800" y="4432300"/>
            <a:ext cx="355600" cy="355600"/>
          </a:xfrm>
          <a:prstGeom prst="ellipse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32" name="AccentBar_4">
            <a:extLst>
              <a:ext uri="{FF2B5EF4-FFF2-40B4-BE49-F238E27FC236}">
                <a16:creationId xmlns:a16="http://schemas.microsoft.com/office/drawing/2014/main" id="{7661018E-AD6E-FC44-94C3-071E96E16C42}"/>
              </a:ext>
            </a:extLst>
          </p:cNvPr>
          <p:cNvSpPr/>
          <p:nvPr/>
        </p:nvSpPr>
        <p:spPr>
          <a:xfrm>
            <a:off x="546100" y="5346700"/>
            <a:ext cx="50800" cy="105410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Badge_4">
            <a:extLst>
              <a:ext uri="{FF2B5EF4-FFF2-40B4-BE49-F238E27FC236}">
                <a16:creationId xmlns:a16="http://schemas.microsoft.com/office/drawing/2014/main" id="{489C88BB-8997-D844-B9E1-600136058E9B}"/>
              </a:ext>
            </a:extLst>
          </p:cNvPr>
          <p:cNvSpPr/>
          <p:nvPr/>
        </p:nvSpPr>
        <p:spPr>
          <a:xfrm>
            <a:off x="812800" y="5575300"/>
            <a:ext cx="355600" cy="355600"/>
          </a:xfrm>
          <a:prstGeom prst="ellipse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25400000" y="41148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§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00" y="482600"/>
            <a:ext cx="10414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19200"/>
            <a:ext cx="11091672" cy="25400"/>
          </a:xfrm>
          <a:prstGeom prst="rect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Honest gaps &amp; natural next steps in a real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1091672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Threshold not tuned — using 0.5; production needs a cost-aware threshold.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No automatic rollback on drift alert — natural extension: gate the @production alias on a rolling performance window.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Local SQLite backend store; multi-writer production would use Postgres and S3 / GCS object storage.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Class imbalance only mild (~27 %), so no SMOTE / class weights — worth a sweep for the F1-vs-recall trade-off.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11091672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1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0" name="SectionBadge">
            <a:extLst>
              <a:ext uri="{FF2B5EF4-FFF2-40B4-BE49-F238E27FC236}">
                <a16:creationId xmlns:a16="http://schemas.microsoft.com/office/drawing/2014/main" id="{CBF6661D-FD52-9E40-96C3-035105718A64}"/>
              </a:ext>
            </a:extLst>
          </p:cNvPr>
          <p:cNvSpPr/>
          <p:nvPr/>
        </p:nvSpPr>
        <p:spPr>
          <a:xfrm>
            <a:off x="546100" y="406400"/>
            <a:ext cx="406400" cy="406400"/>
          </a:xfrm>
          <a:prstGeom prst="ellipse">
            <a:avLst/>
          </a:prstGeom>
          <a:solidFill>
            <a:srgbClr val="0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8D5A65-573E-6E4E-862E-A6352D3D4D5C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9110908-2c94-47a2-810f-259f9862d67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1058</Words>
  <Application>Microsoft Macintosh PowerPoint</Application>
  <PresentationFormat>Widescreen</PresentationFormat>
  <Paragraphs>186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bika dribika</cp:lastModifiedBy>
  <cp:revision>2</cp:revision>
  <dcterms:created xsi:type="dcterms:W3CDTF">2013-01-27T09:14:16Z</dcterms:created>
  <dcterms:modified xsi:type="dcterms:W3CDTF">2026-05-17T09:51:30Z</dcterms:modified>
  <cp:category/>
</cp:coreProperties>
</file>